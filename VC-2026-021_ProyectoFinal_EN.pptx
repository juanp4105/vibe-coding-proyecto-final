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15 s]
We present the narrated site for the course Decision-making and strategic communication in healthcare. It turns a slide-based class into a lesson that students can listen to in Spanish and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 35 s]
Students in the Master’s in Health Management work in hospitals and health centers. Anyone who works in shifts can miss a live Saturday class. When that happens they are left with slides that have no voice and a syllabus in P D F. Think of a nurse coming off a night shift. She wants to review the class on active listening at her own pace. Today she has no version she can listen to, neither in Spanish nor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 · 30 s]
The tool builds on project guide twenty one of the course, the interactive syllabus site. Instructors and students of the course use it. It takes in the approved syllabus, the class slides and the course readings. It delivers a bilingual site with a schedule, an assessment plan and resources. The resources include a narrated lesson of fourteen slides with captions and quick checks. It also delivers two S C O R M packages for the Virtual Classroom.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 · 40 s]
The workflow has four steps. The instructor provides the slides and chooses the topic of the lesson. Claude writes the script for each slide with narration rules and checks it with an automatic auditor. It then rebuilds the slides in both languages, generates the voice and the captions and assembles the packages. The instructor reads every text, listens to every clip and decides which examples stay. In this lesson he chose to replace photos of politicians with scenes from health management. A person always approves what gets published, and nothing reaches students without that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 · 35 s]
We checked three things with programs rather than opinions. The script auditor reviewed thirty texts and found zero errors. The voice guide reviewer tested nineteen steps in Spanish, in English and at phone width. All nineteen steps circled the element the voice was naming. The lesson ran in the browser with synchronized captions and three quick checks. We have not yet tested it with students. That part is still a proposal and not a result, and we will treat it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 · 25 s]
The tool does not replace the live class or the instructor’s feedback. The lesson voice is still provisional and we will replace it with ElevenLabs, using the same voice in both languages. The site collects no personal data. The next step is to upload the packages to the U T E Moodle and measure how many students complete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 · 30 s]
Let us look at the tool on screen. This is the home page of the site. Below the title and the course details sits the voice guide for the page. When you press it a voice walks through the site and circles whatever it names. In this capture it circles the three cards on the home page. That way a new person finds their way around without reading a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 · 35 s]
This is the central result. In the Resources tab you find the narrated lesson on communication skills. On the left is the list of slides. In the center you see the slide with its caption. On the right the transcript highlights the sentence being spoken. The Next button is enabled when the narration ends. Anyone who cannot listen has an option to continue without the audio. Nobody gets stuck on a slide, and every sentence is also available as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 · 30 s]
Here you see the English version of the lesson with a quick check. The question is formative and shows a short explanation once the student answers. Before publishing, the instructor reviews the captures that the automatic reviewer produces, step by step. Then the instructor uploads the S C O R M package to the Virtual Classroom of the course. The platform marks the lesson as completed when the student reaches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[10/10 · 25 s]
With this tool a Saturday class becomes a lesson that students can hear in two languages. We prepared it in a single working session with Claude. The next step is to test it with the master’s cohort. We invite you to open the site and listen to the guide. Thank you very much for your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R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chemeClr val="accent1"/>
          </a:solidFill>
          <a:ln/>
        </p:spPr>
      </p:sp>
      <p:sp>
        <p:nvSpPr>
          <p:cNvPr id="3" name="Text 1"/>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Vibe Coding CEDIA 2026 · Universidad UTE · UTPL</a:t>
            </a:r>
            <a:endParaRPr lang="en-US" sz="1000" dirty="0"/>
          </a:p>
        </p:txBody>
      </p:sp>
      <p:sp>
        <p:nvSpPr>
          <p:cNvPr id="4" name="Text 2"/>
          <p:cNvSpPr/>
          <p:nvPr>
            <p:ph idx="102" type="title" hasCustomPrompt="1"/>
          </p:nvPr>
        </p:nvSpPr>
        <p:spPr>
          <a:xfrm>
            <a:off x="457200" y="256032"/>
            <a:ext cx="8229600" cy="640080"/>
          </a:xfrm>
          <a:prstGeom prst="rect">
            <a:avLst/>
          </a:prstGeom>
          <a:noFill/>
          <a:ln/>
        </p:spPr>
        <p:txBody>
          <a:bodyPr wrap="square" rtlCol="0"/>
          <a:lstStyle>
            <a:lvl1pPr algn="l" indent="0" marL="0">
              <a:buNone/>
              <a:defRPr lang="en-US" sz="3000" b="1" dirty="0">
                <a:solidFill>
                  <a:schemeClr val="tx2"/>
                </a:solidFill>
                <a:latin typeface="Georgia" pitchFamily="34" charset="0"/>
                <a:ea typeface="Georgia" pitchFamily="34" charset="-122"/>
                <a:cs typeface="Georgia" pitchFamily="34" charset="-120"/>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M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chemeClr val="accent1"/>
          </a:solidFill>
          <a:ln/>
        </p:spPr>
      </p:sp>
      <p:sp>
        <p:nvSpPr>
          <p:cNvPr id="3" name="Text 1"/>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Vibe Coding CEDIA 2026 · Universidad UTE · UTPL</a:t>
            </a:r>
            <a:endParaRPr lang="en-US" sz="1000" dirty="0"/>
          </a:p>
        </p:txBody>
      </p:sp>
      <p:sp>
        <p:nvSpPr>
          <p:cNvPr id="4" name="Text 2"/>
          <p:cNvSpPr/>
          <p:nvPr>
            <p:ph idx="102" type="title" hasCustomPrompt="1"/>
          </p:nvPr>
        </p:nvSpPr>
        <p:spPr>
          <a:xfrm>
            <a:off x="1197864" y="146304"/>
            <a:ext cx="6766560" cy="438912"/>
          </a:xfrm>
          <a:prstGeom prst="rect">
            <a:avLst/>
          </a:prstGeom>
          <a:noFill/>
          <a:ln/>
        </p:spPr>
        <p:txBody>
          <a:bodyPr wrap="square" rtlCol="0"/>
          <a:lstStyle>
            <a:lvl1pPr algn="l" indent="0" marL="0">
              <a:buNone/>
              <a:defRPr lang="en-US" sz="2400" b="1" dirty="0">
                <a:solidFill>
                  <a:schemeClr val="tx2"/>
                </a:solidFill>
                <a:latin typeface="Georgia" pitchFamily="34" charset="0"/>
                <a:ea typeface="Georgia" pitchFamily="34" charset="-122"/>
                <a:cs typeface="Georgia" pitchFamily="34" charset="-120"/>
              </a:defRPr>
            </a:lvl1pPr>
          </a:lstStyle>
          <a:p>
            <a:pPr algn="l"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1000" dirty="0">
                <a:solidFill>
                  <a:srgbClr val="C9CCE0"/>
                </a:solidFill>
                <a:latin typeface="Calibri" pitchFamily="34" charset="0"/>
                <a:ea typeface="Calibri" pitchFamily="34" charset="-122"/>
                <a:cs typeface="Calibri" pitchFamily="34" charset="-120"/>
              </a:rPr>
              <a:t>Vibe Coding CEDIA 2026 · Universidad UTE · UTPL</a:t>
            </a:r>
            <a:endParaRPr lang="en-US" sz="1000" dirty="0"/>
          </a:p>
        </p:txBody>
      </p:sp>
      <p:sp>
        <p:nvSpPr>
          <p:cNvPr id="3" name="Text 1"/>
          <p:cNvSpPr/>
          <p:nvPr>
            <p:ph idx="101" type="title" hasCustomPrompt="1"/>
          </p:nvPr>
        </p:nvSpPr>
        <p:spPr>
          <a:xfrm>
            <a:off x="457200" y="1417320"/>
            <a:ext cx="8229600" cy="822960"/>
          </a:xfrm>
          <a:prstGeom prst="rect">
            <a:avLst/>
          </a:prstGeom>
          <a:noFill/>
          <a:ln/>
        </p:spPr>
        <p:txBody>
          <a:bodyPr wrap="square" rtlCol="0"/>
          <a:lstStyle>
            <a:lvl1pPr algn="l" indent="0" marL="0">
              <a:buNone/>
              <a:defRPr lang="en-US" sz="4000" b="1" dirty="0">
                <a:solidFill>
                  <a:schemeClr val="bg1"/>
                </a:solidFill>
                <a:latin typeface="Georgia" pitchFamily="34" charset="0"/>
                <a:ea typeface="Georgia" pitchFamily="34" charset="-122"/>
                <a:cs typeface="Georg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laude.ai/artifact/HtAaBUVm6Jyhrco22LPEc9" TargetMode="Externa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fondo logos"/>
          <p:cNvSpPr/>
          <p:nvPr/>
        </p:nvSpPr>
        <p:spPr>
          <a:xfrm>
            <a:off x="457200" y="411480"/>
            <a:ext cx="2331720" cy="685800"/>
          </a:xfrm>
          <a:prstGeom prst="roundRect">
            <a:avLst>
              <a:gd name="adj" fmla="val 10667"/>
            </a:avLst>
          </a:prstGeom>
          <a:solidFill>
            <a:srgbClr val="FFFFFF"/>
          </a:solidFill>
          <a:ln w="12700">
            <a:solidFill>
              <a:srgbClr val="FFFFFF"/>
            </a:solidFill>
            <a:prstDash val="solid"/>
          </a:ln>
        </p:spPr>
      </p:sp>
      <p:pic>
        <p:nvPicPr>
          <p:cNvPr id="3" name="logo UTE" descr="Universidad UTE">    </p:cNvPr>
          <p:cNvPicPr>
            <a:picLocks noChangeAspect="1"/>
          </p:cNvPicPr>
          <p:nvPr/>
        </p:nvPicPr>
        <p:blipFill>
          <a:blip r:embed="rId1"/>
          <a:stretch>
            <a:fillRect/>
          </a:stretch>
        </p:blipFill>
        <p:spPr>
          <a:xfrm>
            <a:off x="566928" y="475488"/>
            <a:ext cx="704088" cy="557784"/>
          </a:xfrm>
          <a:prstGeom prst="rect">
            <a:avLst/>
          </a:prstGeom>
        </p:spPr>
      </p:pic>
      <p:pic>
        <p:nvPicPr>
          <p:cNvPr id="4" name="logo UTPL" descr="UTPL">    </p:cNvPr>
          <p:cNvPicPr>
            <a:picLocks noChangeAspect="1"/>
          </p:cNvPicPr>
          <p:nvPr/>
        </p:nvPicPr>
        <p:blipFill>
          <a:blip r:embed="rId2"/>
          <a:stretch>
            <a:fillRect/>
          </a:stretch>
        </p:blipFill>
        <p:spPr>
          <a:xfrm>
            <a:off x="1371600" y="475488"/>
            <a:ext cx="1088136" cy="557784"/>
          </a:xfrm>
          <a:prstGeom prst="rect">
            <a:avLst/>
          </a:prstGeom>
        </p:spPr>
      </p:pic>
      <p:sp>
        <p:nvSpPr>
          <p:cNvPr id="5" name="Text 1"/>
          <p:cNvSpPr/>
          <p:nvPr>
            <p:ph idx="101" type="title" hasCustomPrompt="1"/>
          </p:nvPr>
        </p:nvSpPr>
        <p:spPr>
          <a:xfrm>
            <a:off x="457200" y="1417320"/>
            <a:ext cx="822960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Georgia" pitchFamily="34" charset="0"/>
                <a:ea typeface="Georgia" pitchFamily="34" charset="-122"/>
                <a:cs typeface="Georgia" pitchFamily="34" charset="-120"/>
              </a:rPr>
              <a:t>Narrated course site</a:t>
            </a:r>
            <a:endParaRPr lang="en-US" sz="4000" dirty="0"/>
          </a:p>
        </p:txBody>
      </p:sp>
      <p:sp>
        <p:nvSpPr>
          <p:cNvPr id="6" name="subtitulo"/>
          <p:cNvSpPr txBox="1"/>
          <p:nvPr/>
        </p:nvSpPr>
        <p:spPr>
          <a:xfrm>
            <a:off x="457200" y="2286000"/>
            <a:ext cx="8229600" cy="457200"/>
          </a:xfrm>
          <a:prstGeom prst="rect">
            <a:avLst/>
          </a:prstGeom>
          <a:noFill/>
          <a:ln/>
        </p:spPr>
        <p:txBody>
          <a:bodyPr wrap="square" lIns="0" tIns="0" rIns="0" bIns="0" rtlCol="0" anchor="ctr"/>
          <a:lstStyle/>
          <a:p>
            <a:pPr indent="0" marL="0">
              <a:buNone/>
            </a:pPr>
            <a:r>
              <a:rPr lang="en-US" sz="2000" dirty="0">
                <a:solidFill>
                  <a:srgbClr val="E6E3F7"/>
                </a:solidFill>
              </a:rPr>
              <a:t>A class turned into a bilingual lesson</a:t>
            </a:r>
            <a:endParaRPr lang="en-US" sz="2000" dirty="0"/>
          </a:p>
        </p:txBody>
      </p:sp>
      <p:sp>
        <p:nvSpPr>
          <p:cNvPr id="7" name="linea dorada"/>
          <p:cNvSpPr/>
          <p:nvPr/>
        </p:nvSpPr>
        <p:spPr>
          <a:xfrm>
            <a:off x="457200" y="2907792"/>
            <a:ext cx="1097280" cy="54864"/>
          </a:xfrm>
          <a:prstGeom prst="rect">
            <a:avLst/>
          </a:prstGeom>
          <a:solidFill>
            <a:schemeClr val="accent3"/>
          </a:solidFill>
          <a:ln w="12700">
            <a:solidFill>
              <a:schemeClr val="accent3"/>
            </a:solidFill>
            <a:prstDash val="solid"/>
          </a:ln>
        </p:spPr>
      </p:sp>
      <p:sp>
        <p:nvSpPr>
          <p:cNvPr id="8" name="autor"/>
          <p:cNvSpPr txBox="1"/>
          <p:nvPr/>
        </p:nvSpPr>
        <p:spPr>
          <a:xfrm>
            <a:off x="457200" y="3108960"/>
            <a:ext cx="8229600" cy="365760"/>
          </a:xfrm>
          <a:prstGeom prst="rect">
            <a:avLst/>
          </a:prstGeom>
          <a:noFill/>
          <a:ln/>
        </p:spPr>
        <p:txBody>
          <a:bodyPr wrap="square" lIns="0" tIns="0" rIns="0" bIns="0" rtlCol="0" anchor="ctr"/>
          <a:lstStyle/>
          <a:p>
            <a:pPr indent="0" marL="0">
              <a:buNone/>
            </a:pPr>
            <a:r>
              <a:rPr lang="en-US" sz="1800" b="1" dirty="0">
                <a:solidFill>
                  <a:schemeClr val="accent3"/>
                </a:solidFill>
              </a:rPr>
              <a:t>Juan Pablo Arrobo · UTPL · VC-2026-021</a:t>
            </a:r>
            <a:endParaRPr lang="en-US" sz="1800" dirty="0"/>
          </a:p>
        </p:txBody>
      </p:sp>
      <p:sp>
        <p:nvSpPr>
          <p:cNvPr id="9" name="aviso IA"/>
          <p:cNvSpPr txBox="1"/>
          <p:nvPr/>
        </p:nvSpPr>
        <p:spPr>
          <a:xfrm>
            <a:off x="457200" y="4160520"/>
            <a:ext cx="8229600" cy="320040"/>
          </a:xfrm>
          <a:prstGeom prst="rect">
            <a:avLst/>
          </a:prstGeom>
          <a:noFill/>
          <a:ln/>
        </p:spPr>
        <p:txBody>
          <a:bodyPr wrap="square" lIns="0" tIns="0" rIns="0" bIns="0" rtlCol="0" anchor="ctr"/>
          <a:lstStyle/>
          <a:p>
            <a:pPr indent="0" marL="0">
              <a:buNone/>
            </a:pPr>
            <a:r>
              <a:rPr lang="en-US" sz="1200" i="1" dirty="0">
                <a:solidFill>
                  <a:srgbClr val="C9CCE0"/>
                </a:solidFill>
              </a:rPr>
              <a:t>Narration generated with an AI voice (ElevenLabs) and reviewed by the authors</a:t>
            </a:r>
            <a:endParaRPr lang="en-US" sz="1200" dirty="0"/>
          </a:p>
        </p:txBody>
      </p:sp>
      <p:sp>
        <p:nvSpPr>
          <p:cNvPr id="10"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rgbClr val="C9CCE0"/>
                </a:solidFill>
              </a:rPr>
              <a:t>1 / 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The problem</a:t>
            </a:r>
            <a:endParaRPr lang="en-US" sz="3000" dirty="0"/>
          </a:p>
        </p:txBody>
      </p:sp>
      <p:sp>
        <p:nvSpPr>
          <p:cNvPr id="3" name="frase"/>
          <p:cNvSpPr txBox="1"/>
          <p:nvPr/>
        </p:nvSpPr>
        <p:spPr>
          <a:xfrm>
            <a:off x="457200" y="1234440"/>
            <a:ext cx="8229600" cy="1280160"/>
          </a:xfrm>
          <a:prstGeom prst="rect">
            <a:avLst/>
          </a:prstGeom>
          <a:noFill/>
          <a:ln/>
        </p:spPr>
        <p:txBody>
          <a:bodyPr wrap="square" lIns="0" tIns="0" rIns="0" bIns="0" rtlCol="0" anchor="ctr"/>
          <a:lstStyle/>
          <a:p>
            <a:pPr indent="0" marL="0">
              <a:buNone/>
            </a:pPr>
            <a:r>
              <a:rPr lang="en-US" sz="3000" dirty="0">
                <a:solidFill>
                  <a:schemeClr val="accent1"/>
                </a:solidFill>
                <a:latin typeface="Georgia" pitchFamily="34" charset="0"/>
                <a:ea typeface="Georgia" pitchFamily="34" charset="-122"/>
                <a:cs typeface="Georgia" pitchFamily="34" charset="-120"/>
              </a:rPr>
              <a:t>Missing the Saturday class means losing the instructor’s voice.</a:t>
            </a:r>
            <a:endParaRPr lang="en-US" sz="3000" dirty="0"/>
          </a:p>
        </p:txBody>
      </p:sp>
      <p:sp>
        <p:nvSpPr>
          <p:cNvPr id="4" name="barra ejemplo"/>
          <p:cNvSpPr/>
          <p:nvPr/>
        </p:nvSpPr>
        <p:spPr>
          <a:xfrm>
            <a:off x="457200" y="2880360"/>
            <a:ext cx="73152" cy="914400"/>
          </a:xfrm>
          <a:prstGeom prst="rect">
            <a:avLst/>
          </a:prstGeom>
          <a:solidFill>
            <a:schemeClr val="accent2"/>
          </a:solidFill>
          <a:ln w="12700">
            <a:solidFill>
              <a:schemeClr val="accent2"/>
            </a:solidFill>
            <a:prstDash val="solid"/>
          </a:ln>
        </p:spPr>
      </p:sp>
      <p:sp>
        <p:nvSpPr>
          <p:cNvPr id="5" name="ejemplo"/>
          <p:cNvSpPr txBox="1"/>
          <p:nvPr/>
        </p:nvSpPr>
        <p:spPr>
          <a:xfrm>
            <a:off x="685800" y="2880360"/>
            <a:ext cx="7772400" cy="914400"/>
          </a:xfrm>
          <a:prstGeom prst="rect">
            <a:avLst/>
          </a:prstGeom>
          <a:noFill/>
          <a:ln/>
        </p:spPr>
        <p:txBody>
          <a:bodyPr wrap="square" lIns="0" tIns="0" rIns="0" bIns="0" rtlCol="0" anchor="ctr"/>
          <a:lstStyle/>
          <a:p>
            <a:pPr indent="0" marL="0">
              <a:buNone/>
            </a:pPr>
            <a:r>
              <a:rPr lang="en-US" sz="2200" dirty="0">
                <a:solidFill>
                  <a:schemeClr val="tx1"/>
                </a:solidFill>
              </a:rPr>
              <a:t>Example: a nurse off a night shift wants to review active listening.</a:t>
            </a:r>
            <a:endParaRPr lang="en-US" sz="2200" dirty="0"/>
          </a:p>
        </p:txBody>
      </p:sp>
      <p:sp>
        <p:nvSpPr>
          <p:cNvPr id="6"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The tool</a:t>
            </a:r>
            <a:endParaRPr lang="en-US" sz="3000" dirty="0"/>
          </a:p>
        </p:txBody>
      </p:sp>
      <p:sp>
        <p:nvSpPr>
          <p:cNvPr id="3" name="tarjeta 1 fondo"/>
          <p:cNvSpPr/>
          <p:nvPr/>
        </p:nvSpPr>
        <p:spPr>
          <a:xfrm>
            <a:off x="457200" y="1463040"/>
            <a:ext cx="2615184" cy="1920240"/>
          </a:xfrm>
          <a:prstGeom prst="roundRect">
            <a:avLst>
              <a:gd name="adj" fmla="val 3810"/>
            </a:avLst>
          </a:prstGeom>
          <a:solidFill>
            <a:schemeClr val="bg2"/>
          </a:solidFill>
          <a:ln w="12700">
            <a:solidFill>
              <a:schemeClr val="bg2"/>
            </a:solidFill>
            <a:prstDash val="solid"/>
          </a:ln>
        </p:spPr>
      </p:sp>
      <p:sp>
        <p:nvSpPr>
          <p:cNvPr id="4" name="tarjeta 1 acento"/>
          <p:cNvSpPr/>
          <p:nvPr/>
        </p:nvSpPr>
        <p:spPr>
          <a:xfrm>
            <a:off x="457200" y="1463040"/>
            <a:ext cx="2615184" cy="64008"/>
          </a:xfrm>
          <a:prstGeom prst="rect">
            <a:avLst/>
          </a:prstGeom>
          <a:solidFill>
            <a:schemeClr val="accent1"/>
          </a:solidFill>
          <a:ln w="12700">
            <a:solidFill>
              <a:schemeClr val="accent1"/>
            </a:solidFill>
            <a:prstDash val="solid"/>
          </a:ln>
        </p:spPr>
      </p:sp>
      <p:sp>
        <p:nvSpPr>
          <p:cNvPr id="5" name="tarjeta 1"/>
          <p:cNvSpPr txBox="1"/>
          <p:nvPr/>
        </p:nvSpPr>
        <p:spPr>
          <a:xfrm>
            <a:off x="640080"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Who</a:t>
            </a:r>
            <a:endParaRPr lang="en-US" sz="2000" dirty="0"/>
          </a:p>
          <a:p>
            <a:pPr indent="0" marL="0">
              <a:spcAft>
                <a:spcPts val="600"/>
              </a:spcAft>
              <a:buNone/>
            </a:pPr>
            <a:r>
              <a:rPr lang="en-US" sz="1800" dirty="0">
                <a:solidFill>
                  <a:schemeClr val="tx1"/>
                </a:solidFill>
              </a:rPr>
              <a:t>Instructors and master’s students</a:t>
            </a:r>
            <a:endParaRPr lang="en-US" sz="2000" dirty="0"/>
          </a:p>
        </p:txBody>
      </p:sp>
      <p:sp>
        <p:nvSpPr>
          <p:cNvPr id="6" name="tarjeta 2 fondo"/>
          <p:cNvSpPr/>
          <p:nvPr/>
        </p:nvSpPr>
        <p:spPr>
          <a:xfrm>
            <a:off x="3264408" y="1463040"/>
            <a:ext cx="2615184" cy="1920240"/>
          </a:xfrm>
          <a:prstGeom prst="roundRect">
            <a:avLst>
              <a:gd name="adj" fmla="val 3810"/>
            </a:avLst>
          </a:prstGeom>
          <a:solidFill>
            <a:schemeClr val="bg2"/>
          </a:solidFill>
          <a:ln w="12700">
            <a:solidFill>
              <a:schemeClr val="bg2"/>
            </a:solidFill>
            <a:prstDash val="solid"/>
          </a:ln>
        </p:spPr>
      </p:sp>
      <p:sp>
        <p:nvSpPr>
          <p:cNvPr id="7" name="tarjeta 2 acento"/>
          <p:cNvSpPr/>
          <p:nvPr/>
        </p:nvSpPr>
        <p:spPr>
          <a:xfrm>
            <a:off x="3264408" y="1463040"/>
            <a:ext cx="2615184" cy="64008"/>
          </a:xfrm>
          <a:prstGeom prst="rect">
            <a:avLst/>
          </a:prstGeom>
          <a:solidFill>
            <a:schemeClr val="accent2"/>
          </a:solidFill>
          <a:ln w="12700">
            <a:solidFill>
              <a:schemeClr val="accent2"/>
            </a:solidFill>
            <a:prstDash val="solid"/>
          </a:ln>
        </p:spPr>
      </p:sp>
      <p:sp>
        <p:nvSpPr>
          <p:cNvPr id="8" name="tarjeta 2"/>
          <p:cNvSpPr txBox="1"/>
          <p:nvPr/>
        </p:nvSpPr>
        <p:spPr>
          <a:xfrm>
            <a:off x="3447288"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Takes in</a:t>
            </a:r>
            <a:endParaRPr lang="en-US" sz="2000" dirty="0"/>
          </a:p>
          <a:p>
            <a:pPr indent="0" marL="0">
              <a:spcAft>
                <a:spcPts val="600"/>
              </a:spcAft>
              <a:buNone/>
            </a:pPr>
            <a:r>
              <a:rPr lang="en-US" sz="1800" dirty="0">
                <a:solidFill>
                  <a:schemeClr val="tx1"/>
                </a:solidFill>
              </a:rPr>
              <a:t>Syllabus, slides and readings</a:t>
            </a:r>
            <a:endParaRPr lang="en-US" sz="2000" dirty="0"/>
          </a:p>
        </p:txBody>
      </p:sp>
      <p:sp>
        <p:nvSpPr>
          <p:cNvPr id="9" name="tarjeta 3 fondo"/>
          <p:cNvSpPr/>
          <p:nvPr/>
        </p:nvSpPr>
        <p:spPr>
          <a:xfrm>
            <a:off x="6071616" y="1463040"/>
            <a:ext cx="2615184" cy="1920240"/>
          </a:xfrm>
          <a:prstGeom prst="roundRect">
            <a:avLst>
              <a:gd name="adj" fmla="val 3810"/>
            </a:avLst>
          </a:prstGeom>
          <a:solidFill>
            <a:schemeClr val="bg2"/>
          </a:solidFill>
          <a:ln w="12700">
            <a:solidFill>
              <a:schemeClr val="bg2"/>
            </a:solidFill>
            <a:prstDash val="solid"/>
          </a:ln>
        </p:spPr>
      </p:sp>
      <p:sp>
        <p:nvSpPr>
          <p:cNvPr id="10" name="tarjeta 3 acento"/>
          <p:cNvSpPr/>
          <p:nvPr/>
        </p:nvSpPr>
        <p:spPr>
          <a:xfrm>
            <a:off x="6071616" y="1463040"/>
            <a:ext cx="2615184" cy="64008"/>
          </a:xfrm>
          <a:prstGeom prst="rect">
            <a:avLst/>
          </a:prstGeom>
          <a:solidFill>
            <a:schemeClr val="accent3"/>
          </a:solidFill>
          <a:ln w="12700">
            <a:solidFill>
              <a:schemeClr val="accent3"/>
            </a:solidFill>
            <a:prstDash val="solid"/>
          </a:ln>
        </p:spPr>
      </p:sp>
      <p:sp>
        <p:nvSpPr>
          <p:cNvPr id="11" name="tarjeta 3"/>
          <p:cNvSpPr txBox="1"/>
          <p:nvPr/>
        </p:nvSpPr>
        <p:spPr>
          <a:xfrm>
            <a:off x="6254496"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Delivers</a:t>
            </a:r>
            <a:endParaRPr lang="en-US" sz="2000" dirty="0"/>
          </a:p>
          <a:p>
            <a:pPr indent="0" marL="0">
              <a:spcAft>
                <a:spcPts val="600"/>
              </a:spcAft>
              <a:buNone/>
            </a:pPr>
            <a:r>
              <a:rPr lang="en-US" sz="1800" dirty="0">
                <a:solidFill>
                  <a:schemeClr val="tx1"/>
                </a:solidFill>
              </a:rPr>
              <a:t>Bilingual site, narrated lesson and SCORM</a:t>
            </a:r>
            <a:endParaRPr lang="en-US" sz="2000" dirty="0"/>
          </a:p>
        </p:txBody>
      </p:sp>
      <p:sp>
        <p:nvSpPr>
          <p:cNvPr id="12"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How it works</a:t>
            </a:r>
            <a:endParaRPr lang="en-US" sz="3000" dirty="0"/>
          </a:p>
        </p:txBody>
      </p:sp>
      <p:sp>
        <p:nvSpPr>
          <p:cNvPr id="3" name="paso 1 fondo"/>
          <p:cNvSpPr/>
          <p:nvPr/>
        </p:nvSpPr>
        <p:spPr>
          <a:xfrm>
            <a:off x="457200" y="1600200"/>
            <a:ext cx="1783080" cy="2011680"/>
          </a:xfrm>
          <a:prstGeom prst="roundRect">
            <a:avLst>
              <a:gd name="adj" fmla="val 4103"/>
            </a:avLst>
          </a:prstGeom>
          <a:solidFill>
            <a:schemeClr val="bg2"/>
          </a:solidFill>
          <a:ln w="9525">
            <a:solidFill>
              <a:schemeClr val="bg2"/>
            </a:solidFill>
            <a:prstDash val="solid"/>
          </a:ln>
        </p:spPr>
      </p:sp>
      <p:sp>
        <p:nvSpPr>
          <p:cNvPr id="4" name="paso 1"/>
          <p:cNvSpPr txBox="1"/>
          <p:nvPr/>
        </p:nvSpPr>
        <p:spPr>
          <a:xfrm>
            <a:off x="594360" y="1737360"/>
            <a:ext cx="1508760" cy="178308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latin typeface="Georgia" pitchFamily="34" charset="0"/>
                <a:ea typeface="Georgia" pitchFamily="34" charset="-122"/>
                <a:cs typeface="Georgia" pitchFamily="34" charset="-120"/>
              </a:rPr>
              <a:t>1</a:t>
            </a:r>
            <a:endParaRPr lang="en-US" sz="3000" dirty="0"/>
          </a:p>
          <a:p>
            <a:pPr indent="0" marL="0">
              <a:spcAft>
                <a:spcPts val="400"/>
              </a:spcAft>
              <a:buNone/>
            </a:pPr>
            <a:r>
              <a:rPr lang="en-US" sz="1900" b="1" dirty="0">
                <a:solidFill>
                  <a:schemeClr val="tx2"/>
                </a:solidFill>
              </a:rPr>
              <a:t>Input</a:t>
            </a:r>
            <a:endParaRPr lang="en-US" sz="3000" dirty="0"/>
          </a:p>
          <a:p>
            <a:pPr indent="0" marL="0">
              <a:spcAft>
                <a:spcPts val="400"/>
              </a:spcAft>
              <a:buNone/>
            </a:pPr>
            <a:r>
              <a:rPr lang="en-US" sz="1800" dirty="0">
                <a:solidFill>
                  <a:schemeClr val="tx1"/>
                </a:solidFill>
              </a:rPr>
              <a:t>Slides and topic</a:t>
            </a:r>
            <a:endParaRPr lang="en-US" sz="3000" dirty="0"/>
          </a:p>
        </p:txBody>
      </p:sp>
      <p:sp>
        <p:nvSpPr>
          <p:cNvPr id="5" name="flecha 1"/>
          <p:cNvSpPr/>
          <p:nvPr/>
        </p:nvSpPr>
        <p:spPr>
          <a:xfrm>
            <a:off x="2304288" y="2487168"/>
            <a:ext cx="201168" cy="237744"/>
          </a:xfrm>
          <a:prstGeom prst="rtTriangle">
            <a:avLst/>
          </a:prstGeom>
          <a:solidFill>
            <a:schemeClr val="accent5"/>
          </a:solidFill>
          <a:ln w="12700">
            <a:solidFill>
              <a:schemeClr val="accent5"/>
            </a:solidFill>
            <a:prstDash val="solid"/>
          </a:ln>
        </p:spPr>
      </p:sp>
      <p:sp>
        <p:nvSpPr>
          <p:cNvPr id="6" name="paso 2 fondo"/>
          <p:cNvSpPr/>
          <p:nvPr/>
        </p:nvSpPr>
        <p:spPr>
          <a:xfrm>
            <a:off x="2578608" y="1600200"/>
            <a:ext cx="1783080" cy="2011680"/>
          </a:xfrm>
          <a:prstGeom prst="roundRect">
            <a:avLst>
              <a:gd name="adj" fmla="val 4103"/>
            </a:avLst>
          </a:prstGeom>
          <a:solidFill>
            <a:schemeClr val="bg2"/>
          </a:solidFill>
          <a:ln w="9525">
            <a:solidFill>
              <a:schemeClr val="bg2"/>
            </a:solidFill>
            <a:prstDash val="solid"/>
          </a:ln>
        </p:spPr>
      </p:sp>
      <p:sp>
        <p:nvSpPr>
          <p:cNvPr id="7" name="paso 2"/>
          <p:cNvSpPr txBox="1"/>
          <p:nvPr/>
        </p:nvSpPr>
        <p:spPr>
          <a:xfrm>
            <a:off x="2715768" y="1737360"/>
            <a:ext cx="1508760" cy="1783080"/>
          </a:xfrm>
          <a:prstGeom prst="rect">
            <a:avLst/>
          </a:prstGeom>
          <a:noFill/>
          <a:ln/>
        </p:spPr>
        <p:txBody>
          <a:bodyPr wrap="square" lIns="0" tIns="0" rIns="0" bIns="0" rtlCol="0" anchor="t"/>
          <a:lstStyle/>
          <a:p>
            <a:pPr indent="0" marL="0">
              <a:spcAft>
                <a:spcPts val="400"/>
              </a:spcAft>
              <a:buNone/>
            </a:pPr>
            <a:r>
              <a:rPr lang="en-US" sz="3000" b="1" dirty="0">
                <a:solidFill>
                  <a:schemeClr val="accent2"/>
                </a:solidFill>
                <a:latin typeface="Georgia" pitchFamily="34" charset="0"/>
                <a:ea typeface="Georgia" pitchFamily="34" charset="-122"/>
                <a:cs typeface="Georgia" pitchFamily="34" charset="-120"/>
              </a:rPr>
              <a:t>2</a:t>
            </a:r>
            <a:endParaRPr lang="en-US" sz="3000" dirty="0"/>
          </a:p>
          <a:p>
            <a:pPr indent="0" marL="0">
              <a:spcAft>
                <a:spcPts val="400"/>
              </a:spcAft>
              <a:buNone/>
            </a:pPr>
            <a:r>
              <a:rPr lang="en-US" sz="1900" b="1" dirty="0">
                <a:solidFill>
                  <a:schemeClr val="tx2"/>
                </a:solidFill>
              </a:rPr>
              <a:t>AI</a:t>
            </a:r>
            <a:endParaRPr lang="en-US" sz="3000" dirty="0"/>
          </a:p>
          <a:p>
            <a:pPr indent="0" marL="0">
              <a:spcAft>
                <a:spcPts val="400"/>
              </a:spcAft>
              <a:buNone/>
            </a:pPr>
            <a:r>
              <a:rPr lang="en-US" sz="1800" dirty="0">
                <a:solidFill>
                  <a:schemeClr val="tx1"/>
                </a:solidFill>
              </a:rPr>
              <a:t>Script, voice, captions</a:t>
            </a:r>
            <a:endParaRPr lang="en-US" sz="3000" dirty="0"/>
          </a:p>
        </p:txBody>
      </p:sp>
      <p:sp>
        <p:nvSpPr>
          <p:cNvPr id="8" name="flecha 2"/>
          <p:cNvSpPr/>
          <p:nvPr/>
        </p:nvSpPr>
        <p:spPr>
          <a:xfrm>
            <a:off x="4425696" y="2487168"/>
            <a:ext cx="201168" cy="237744"/>
          </a:xfrm>
          <a:prstGeom prst="rtTriangle">
            <a:avLst/>
          </a:prstGeom>
          <a:solidFill>
            <a:schemeClr val="accent5"/>
          </a:solidFill>
          <a:ln w="12700">
            <a:solidFill>
              <a:schemeClr val="accent5"/>
            </a:solidFill>
            <a:prstDash val="solid"/>
          </a:ln>
        </p:spPr>
      </p:sp>
      <p:sp>
        <p:nvSpPr>
          <p:cNvPr id="9" name="paso 3 fondo"/>
          <p:cNvSpPr/>
          <p:nvPr/>
        </p:nvSpPr>
        <p:spPr>
          <a:xfrm>
            <a:off x="4700016" y="1600200"/>
            <a:ext cx="1783080" cy="2011680"/>
          </a:xfrm>
          <a:prstGeom prst="roundRect">
            <a:avLst>
              <a:gd name="adj" fmla="val 4103"/>
            </a:avLst>
          </a:prstGeom>
          <a:solidFill>
            <a:srgbClr val="FFF6D6"/>
          </a:solidFill>
          <a:ln w="31750">
            <a:solidFill>
              <a:schemeClr val="accent3"/>
            </a:solidFill>
            <a:prstDash val="solid"/>
          </a:ln>
        </p:spPr>
      </p:sp>
      <p:sp>
        <p:nvSpPr>
          <p:cNvPr id="10" name="paso 3"/>
          <p:cNvSpPr txBox="1"/>
          <p:nvPr/>
        </p:nvSpPr>
        <p:spPr>
          <a:xfrm>
            <a:off x="4837176" y="1737360"/>
            <a:ext cx="1508760" cy="178308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latin typeface="Georgia" pitchFamily="34" charset="0"/>
                <a:ea typeface="Georgia" pitchFamily="34" charset="-122"/>
                <a:cs typeface="Georgia" pitchFamily="34" charset="-120"/>
              </a:rPr>
              <a:t>3</a:t>
            </a:r>
            <a:endParaRPr lang="en-US" sz="3000" dirty="0"/>
          </a:p>
          <a:p>
            <a:pPr indent="0" marL="0">
              <a:spcAft>
                <a:spcPts val="400"/>
              </a:spcAft>
              <a:buNone/>
            </a:pPr>
            <a:r>
              <a:rPr lang="en-US" sz="1900" b="1" dirty="0">
                <a:solidFill>
                  <a:schemeClr val="tx2"/>
                </a:solidFill>
              </a:rPr>
              <a:t>Human review</a:t>
            </a:r>
            <a:endParaRPr lang="en-US" sz="3000" dirty="0"/>
          </a:p>
          <a:p>
            <a:pPr indent="0" marL="0">
              <a:spcAft>
                <a:spcPts val="400"/>
              </a:spcAft>
              <a:buNone/>
            </a:pPr>
            <a:r>
              <a:rPr lang="en-US" sz="1800" dirty="0">
                <a:solidFill>
                  <a:schemeClr val="tx1"/>
                </a:solidFill>
              </a:rPr>
              <a:t>Read, listen, decide</a:t>
            </a:r>
            <a:endParaRPr lang="en-US" sz="3000" dirty="0"/>
          </a:p>
        </p:txBody>
      </p:sp>
      <p:sp>
        <p:nvSpPr>
          <p:cNvPr id="11" name="flecha 3"/>
          <p:cNvSpPr/>
          <p:nvPr/>
        </p:nvSpPr>
        <p:spPr>
          <a:xfrm>
            <a:off x="6547104" y="2487168"/>
            <a:ext cx="201168" cy="237744"/>
          </a:xfrm>
          <a:prstGeom prst="rtTriangle">
            <a:avLst/>
          </a:prstGeom>
          <a:solidFill>
            <a:schemeClr val="accent5"/>
          </a:solidFill>
          <a:ln w="12700">
            <a:solidFill>
              <a:schemeClr val="accent5"/>
            </a:solidFill>
            <a:prstDash val="solid"/>
          </a:ln>
        </p:spPr>
      </p:sp>
      <p:sp>
        <p:nvSpPr>
          <p:cNvPr id="12" name="paso 4 fondo"/>
          <p:cNvSpPr/>
          <p:nvPr/>
        </p:nvSpPr>
        <p:spPr>
          <a:xfrm>
            <a:off x="6821424" y="1600200"/>
            <a:ext cx="1783080" cy="2011680"/>
          </a:xfrm>
          <a:prstGeom prst="roundRect">
            <a:avLst>
              <a:gd name="adj" fmla="val 4103"/>
            </a:avLst>
          </a:prstGeom>
          <a:solidFill>
            <a:schemeClr val="bg2"/>
          </a:solidFill>
          <a:ln w="9525">
            <a:solidFill>
              <a:schemeClr val="bg2"/>
            </a:solidFill>
            <a:prstDash val="solid"/>
          </a:ln>
        </p:spPr>
      </p:sp>
      <p:sp>
        <p:nvSpPr>
          <p:cNvPr id="13" name="paso 4"/>
          <p:cNvSpPr txBox="1"/>
          <p:nvPr/>
        </p:nvSpPr>
        <p:spPr>
          <a:xfrm>
            <a:off x="6958584" y="1737360"/>
            <a:ext cx="1508760" cy="1783080"/>
          </a:xfrm>
          <a:prstGeom prst="rect">
            <a:avLst/>
          </a:prstGeom>
          <a:noFill/>
          <a:ln/>
        </p:spPr>
        <p:txBody>
          <a:bodyPr wrap="square" lIns="0" tIns="0" rIns="0" bIns="0" rtlCol="0" anchor="t"/>
          <a:lstStyle/>
          <a:p>
            <a:pPr indent="0" marL="0">
              <a:spcAft>
                <a:spcPts val="400"/>
              </a:spcAft>
              <a:buNone/>
            </a:pPr>
            <a:r>
              <a:rPr lang="en-US" sz="3000" b="1" dirty="0">
                <a:solidFill>
                  <a:schemeClr val="accent2"/>
                </a:solidFill>
                <a:latin typeface="Georgia" pitchFamily="34" charset="0"/>
                <a:ea typeface="Georgia" pitchFamily="34" charset="-122"/>
                <a:cs typeface="Georgia" pitchFamily="34" charset="-120"/>
              </a:rPr>
              <a:t>4</a:t>
            </a:r>
            <a:endParaRPr lang="en-US" sz="3000" dirty="0"/>
          </a:p>
          <a:p>
            <a:pPr indent="0" marL="0">
              <a:spcAft>
                <a:spcPts val="400"/>
              </a:spcAft>
              <a:buNone/>
            </a:pPr>
            <a:r>
              <a:rPr lang="en-US" sz="1900" b="1" dirty="0">
                <a:solidFill>
                  <a:schemeClr val="tx2"/>
                </a:solidFill>
              </a:rPr>
              <a:t>Output</a:t>
            </a:r>
            <a:endParaRPr lang="en-US" sz="3000" dirty="0"/>
          </a:p>
          <a:p>
            <a:pPr indent="0" marL="0">
              <a:spcAft>
                <a:spcPts val="400"/>
              </a:spcAft>
              <a:buNone/>
            </a:pPr>
            <a:r>
              <a:rPr lang="en-US" sz="1800" dirty="0">
                <a:solidFill>
                  <a:schemeClr val="tx1"/>
                </a:solidFill>
              </a:rPr>
              <a:t>Site and SCORM</a:t>
            </a:r>
            <a:endParaRPr lang="en-US" sz="3000" dirty="0"/>
          </a:p>
        </p:txBody>
      </p:sp>
      <p:sp>
        <p:nvSpPr>
          <p:cNvPr id="14"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Evidence</a:t>
            </a:r>
            <a:endParaRPr lang="en-US" sz="3000" dirty="0"/>
          </a:p>
        </p:txBody>
      </p:sp>
      <p:sp>
        <p:nvSpPr>
          <p:cNvPr id="3" name="cifra 1"/>
          <p:cNvSpPr txBox="1"/>
          <p:nvPr/>
        </p:nvSpPr>
        <p:spPr>
          <a:xfrm>
            <a:off x="457200" y="1280160"/>
            <a:ext cx="2615184" cy="219456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latin typeface="Georgia" pitchFamily="34" charset="0"/>
                <a:ea typeface="Georgia" pitchFamily="34" charset="-122"/>
                <a:cs typeface="Georgia" pitchFamily="34" charset="-120"/>
              </a:rPr>
              <a:t>30 / 30</a:t>
            </a:r>
            <a:endParaRPr lang="en-US" sz="4000" dirty="0"/>
          </a:p>
          <a:p>
            <a:pPr indent="0" marL="0">
              <a:spcAft>
                <a:spcPts val="400"/>
              </a:spcAft>
              <a:buNone/>
            </a:pPr>
            <a:r>
              <a:rPr lang="en-US" sz="1900" b="1" dirty="0">
                <a:solidFill>
                  <a:schemeClr val="tx2"/>
                </a:solidFill>
              </a:rPr>
              <a:t>scripts without errors</a:t>
            </a:r>
            <a:endParaRPr lang="en-US" sz="4000" dirty="0"/>
          </a:p>
          <a:p>
            <a:pPr indent="0" marL="0">
              <a:spcAft>
                <a:spcPts val="400"/>
              </a:spcAft>
              <a:buNone/>
            </a:pPr>
            <a:r>
              <a:rPr lang="en-US" sz="1800" dirty="0">
                <a:solidFill>
                  <a:schemeClr val="accent5"/>
                </a:solidFill>
              </a:rPr>
              <a:t>auditor</a:t>
            </a:r>
            <a:endParaRPr lang="en-US" sz="4000" dirty="0"/>
          </a:p>
        </p:txBody>
      </p:sp>
      <p:sp>
        <p:nvSpPr>
          <p:cNvPr id="4" name="cifra 2"/>
          <p:cNvSpPr txBox="1"/>
          <p:nvPr/>
        </p:nvSpPr>
        <p:spPr>
          <a:xfrm>
            <a:off x="3264408" y="1280160"/>
            <a:ext cx="2615184" cy="2194560"/>
          </a:xfrm>
          <a:prstGeom prst="rect">
            <a:avLst/>
          </a:prstGeom>
          <a:noFill/>
          <a:ln/>
        </p:spPr>
        <p:txBody>
          <a:bodyPr wrap="square" lIns="0" tIns="0" rIns="0" bIns="0" rtlCol="0" anchor="t"/>
          <a:lstStyle/>
          <a:p>
            <a:pPr indent="0" marL="0">
              <a:spcAft>
                <a:spcPts val="400"/>
              </a:spcAft>
              <a:buNone/>
            </a:pPr>
            <a:r>
              <a:rPr lang="en-US" sz="4000" b="1" dirty="0">
                <a:solidFill>
                  <a:schemeClr val="accent2"/>
                </a:solidFill>
                <a:latin typeface="Georgia" pitchFamily="34" charset="0"/>
                <a:ea typeface="Georgia" pitchFamily="34" charset="-122"/>
                <a:cs typeface="Georgia" pitchFamily="34" charset="-120"/>
              </a:rPr>
              <a:t>19 / 19</a:t>
            </a:r>
            <a:endParaRPr lang="en-US" sz="4000" dirty="0"/>
          </a:p>
          <a:p>
            <a:pPr indent="0" marL="0">
              <a:spcAft>
                <a:spcPts val="400"/>
              </a:spcAft>
              <a:buNone/>
            </a:pPr>
            <a:r>
              <a:rPr lang="en-US" sz="1900" b="1" dirty="0">
                <a:solidFill>
                  <a:schemeClr val="tx2"/>
                </a:solidFill>
              </a:rPr>
              <a:t>guide steps</a:t>
            </a:r>
            <a:endParaRPr lang="en-US" sz="4000" dirty="0"/>
          </a:p>
          <a:p>
            <a:pPr indent="0" marL="0">
              <a:spcAft>
                <a:spcPts val="400"/>
              </a:spcAft>
              <a:buNone/>
            </a:pPr>
            <a:r>
              <a:rPr lang="en-US" sz="1800" dirty="0">
                <a:solidFill>
                  <a:schemeClr val="accent5"/>
                </a:solidFill>
              </a:rPr>
              <a:t>ES, EN, phone</a:t>
            </a:r>
            <a:endParaRPr lang="en-US" sz="4000" dirty="0"/>
          </a:p>
        </p:txBody>
      </p:sp>
      <p:sp>
        <p:nvSpPr>
          <p:cNvPr id="5" name="cifra 3"/>
          <p:cNvSpPr txBox="1"/>
          <p:nvPr/>
        </p:nvSpPr>
        <p:spPr>
          <a:xfrm>
            <a:off x="6071616" y="1280160"/>
            <a:ext cx="2615184" cy="2194560"/>
          </a:xfrm>
          <a:prstGeom prst="rect">
            <a:avLst/>
          </a:prstGeom>
          <a:noFill/>
          <a:ln/>
        </p:spPr>
        <p:txBody>
          <a:bodyPr wrap="square" lIns="0" tIns="0" rIns="0" bIns="0" rtlCol="0" anchor="t"/>
          <a:lstStyle/>
          <a:p>
            <a:pPr indent="0" marL="0">
              <a:spcAft>
                <a:spcPts val="400"/>
              </a:spcAft>
              <a:buNone/>
            </a:pPr>
            <a:r>
              <a:rPr lang="en-US" sz="4000" b="1" dirty="0">
                <a:solidFill>
                  <a:schemeClr val="accent1"/>
                </a:solidFill>
                <a:latin typeface="Georgia" pitchFamily="34" charset="0"/>
                <a:ea typeface="Georgia" pitchFamily="34" charset="-122"/>
                <a:cs typeface="Georgia" pitchFamily="34" charset="-120"/>
              </a:rPr>
              <a:t>3</a:t>
            </a:r>
            <a:endParaRPr lang="en-US" sz="4000" dirty="0"/>
          </a:p>
          <a:p>
            <a:pPr indent="0" marL="0">
              <a:spcAft>
                <a:spcPts val="400"/>
              </a:spcAft>
              <a:buNone/>
            </a:pPr>
            <a:r>
              <a:rPr lang="en-US" sz="1900" b="1" dirty="0">
                <a:solidFill>
                  <a:schemeClr val="tx2"/>
                </a:solidFill>
              </a:rPr>
              <a:t>working quick checks</a:t>
            </a:r>
            <a:endParaRPr lang="en-US" sz="4000" dirty="0"/>
          </a:p>
          <a:p>
            <a:pPr indent="0" marL="0">
              <a:spcAft>
                <a:spcPts val="400"/>
              </a:spcAft>
              <a:buNone/>
            </a:pPr>
            <a:r>
              <a:rPr lang="en-US" sz="1800" dirty="0">
                <a:solidFill>
                  <a:schemeClr val="accent5"/>
                </a:solidFill>
              </a:rPr>
              <a:t>browser</a:t>
            </a:r>
            <a:endParaRPr lang="en-US" sz="4000" dirty="0"/>
          </a:p>
        </p:txBody>
      </p:sp>
      <p:sp>
        <p:nvSpPr>
          <p:cNvPr id="6" name="pendiente"/>
          <p:cNvSpPr txBox="1"/>
          <p:nvPr/>
        </p:nvSpPr>
        <p:spPr>
          <a:xfrm>
            <a:off x="457200" y="3840480"/>
            <a:ext cx="8229600" cy="457200"/>
          </a:xfrm>
          <a:prstGeom prst="rect">
            <a:avLst/>
          </a:prstGeom>
          <a:noFill/>
          <a:ln/>
        </p:spPr>
        <p:txBody>
          <a:bodyPr wrap="square" lIns="0" tIns="0" rIns="0" bIns="0" rtlCol="0" anchor="ctr"/>
          <a:lstStyle/>
          <a:p>
            <a:pPr indent="0" marL="0">
              <a:buNone/>
            </a:pPr>
            <a:r>
              <a:rPr lang="en-US" sz="1800" i="1" dirty="0">
                <a:solidFill>
                  <a:schemeClr val="accent4"/>
                </a:solidFill>
              </a:rPr>
              <a:t>Pending: test with students.</a:t>
            </a:r>
            <a:endParaRPr lang="en-US" sz="1800" dirty="0"/>
          </a:p>
        </p:txBody>
      </p:sp>
      <p:sp>
        <p:nvSpPr>
          <p:cNvPr id="7"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Georgia" pitchFamily="34" charset="0"/>
                <a:ea typeface="Georgia" pitchFamily="34" charset="-122"/>
                <a:cs typeface="Georgia" pitchFamily="34" charset="-120"/>
              </a:rPr>
              <a:t>Limits and responsible use</a:t>
            </a:r>
            <a:endParaRPr lang="en-US" sz="3000" dirty="0"/>
          </a:p>
        </p:txBody>
      </p:sp>
      <p:sp>
        <p:nvSpPr>
          <p:cNvPr id="3" name="tarjeta 1 fondo"/>
          <p:cNvSpPr/>
          <p:nvPr/>
        </p:nvSpPr>
        <p:spPr>
          <a:xfrm>
            <a:off x="457200" y="1463040"/>
            <a:ext cx="2615184" cy="1920240"/>
          </a:xfrm>
          <a:prstGeom prst="roundRect">
            <a:avLst>
              <a:gd name="adj" fmla="val 3810"/>
            </a:avLst>
          </a:prstGeom>
          <a:solidFill>
            <a:schemeClr val="bg2"/>
          </a:solidFill>
          <a:ln w="12700">
            <a:solidFill>
              <a:schemeClr val="bg2"/>
            </a:solidFill>
            <a:prstDash val="solid"/>
          </a:ln>
        </p:spPr>
      </p:sp>
      <p:sp>
        <p:nvSpPr>
          <p:cNvPr id="4" name="tarjeta 1 acento"/>
          <p:cNvSpPr/>
          <p:nvPr/>
        </p:nvSpPr>
        <p:spPr>
          <a:xfrm>
            <a:off x="457200" y="1463040"/>
            <a:ext cx="2615184" cy="64008"/>
          </a:xfrm>
          <a:prstGeom prst="rect">
            <a:avLst/>
          </a:prstGeom>
          <a:solidFill>
            <a:schemeClr val="accent1"/>
          </a:solidFill>
          <a:ln w="12700">
            <a:solidFill>
              <a:schemeClr val="accent1"/>
            </a:solidFill>
            <a:prstDash val="solid"/>
          </a:ln>
        </p:spPr>
      </p:sp>
      <p:sp>
        <p:nvSpPr>
          <p:cNvPr id="5" name="tarjeta 1"/>
          <p:cNvSpPr txBox="1"/>
          <p:nvPr/>
        </p:nvSpPr>
        <p:spPr>
          <a:xfrm>
            <a:off x="640080"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Does not replace</a:t>
            </a:r>
            <a:endParaRPr lang="en-US" sz="2000" dirty="0"/>
          </a:p>
          <a:p>
            <a:pPr indent="0" marL="0">
              <a:spcAft>
                <a:spcPts val="600"/>
              </a:spcAft>
              <a:buNone/>
            </a:pPr>
            <a:r>
              <a:rPr lang="en-US" sz="1800" dirty="0">
                <a:solidFill>
                  <a:schemeClr val="tx1"/>
                </a:solidFill>
              </a:rPr>
              <a:t>the class or feedback</a:t>
            </a:r>
            <a:endParaRPr lang="en-US" sz="2000" dirty="0"/>
          </a:p>
        </p:txBody>
      </p:sp>
      <p:sp>
        <p:nvSpPr>
          <p:cNvPr id="6" name="tarjeta 2 fondo"/>
          <p:cNvSpPr/>
          <p:nvPr/>
        </p:nvSpPr>
        <p:spPr>
          <a:xfrm>
            <a:off x="3264408" y="1463040"/>
            <a:ext cx="2615184" cy="1920240"/>
          </a:xfrm>
          <a:prstGeom prst="roundRect">
            <a:avLst>
              <a:gd name="adj" fmla="val 3810"/>
            </a:avLst>
          </a:prstGeom>
          <a:solidFill>
            <a:schemeClr val="bg2"/>
          </a:solidFill>
          <a:ln w="12700">
            <a:solidFill>
              <a:schemeClr val="bg2"/>
            </a:solidFill>
            <a:prstDash val="solid"/>
          </a:ln>
        </p:spPr>
      </p:sp>
      <p:sp>
        <p:nvSpPr>
          <p:cNvPr id="7" name="tarjeta 2 acento"/>
          <p:cNvSpPr/>
          <p:nvPr/>
        </p:nvSpPr>
        <p:spPr>
          <a:xfrm>
            <a:off x="3264408" y="1463040"/>
            <a:ext cx="2615184" cy="64008"/>
          </a:xfrm>
          <a:prstGeom prst="rect">
            <a:avLst/>
          </a:prstGeom>
          <a:solidFill>
            <a:schemeClr val="accent2"/>
          </a:solidFill>
          <a:ln w="12700">
            <a:solidFill>
              <a:schemeClr val="accent2"/>
            </a:solidFill>
            <a:prstDash val="solid"/>
          </a:ln>
        </p:spPr>
      </p:sp>
      <p:sp>
        <p:nvSpPr>
          <p:cNvPr id="8" name="tarjeta 2"/>
          <p:cNvSpPr txBox="1"/>
          <p:nvPr/>
        </p:nvSpPr>
        <p:spPr>
          <a:xfrm>
            <a:off x="3447288"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Data</a:t>
            </a:r>
            <a:endParaRPr lang="en-US" sz="2000" dirty="0"/>
          </a:p>
          <a:p>
            <a:pPr indent="0" marL="0">
              <a:spcAft>
                <a:spcPts val="600"/>
              </a:spcAft>
              <a:buNone/>
            </a:pPr>
            <a:r>
              <a:rPr lang="en-US" sz="1800" dirty="0">
                <a:solidFill>
                  <a:schemeClr val="tx1"/>
                </a:solidFill>
              </a:rPr>
              <a:t>no personal data</a:t>
            </a:r>
            <a:endParaRPr lang="en-US" sz="2000" dirty="0"/>
          </a:p>
        </p:txBody>
      </p:sp>
      <p:sp>
        <p:nvSpPr>
          <p:cNvPr id="9" name="tarjeta 3 fondo"/>
          <p:cNvSpPr/>
          <p:nvPr/>
        </p:nvSpPr>
        <p:spPr>
          <a:xfrm>
            <a:off x="6071616" y="1463040"/>
            <a:ext cx="2615184" cy="1920240"/>
          </a:xfrm>
          <a:prstGeom prst="roundRect">
            <a:avLst>
              <a:gd name="adj" fmla="val 3810"/>
            </a:avLst>
          </a:prstGeom>
          <a:solidFill>
            <a:schemeClr val="bg2"/>
          </a:solidFill>
          <a:ln w="12700">
            <a:solidFill>
              <a:schemeClr val="bg2"/>
            </a:solidFill>
            <a:prstDash val="solid"/>
          </a:ln>
        </p:spPr>
      </p:sp>
      <p:sp>
        <p:nvSpPr>
          <p:cNvPr id="10" name="tarjeta 3 acento"/>
          <p:cNvSpPr/>
          <p:nvPr/>
        </p:nvSpPr>
        <p:spPr>
          <a:xfrm>
            <a:off x="6071616" y="1463040"/>
            <a:ext cx="2615184" cy="64008"/>
          </a:xfrm>
          <a:prstGeom prst="rect">
            <a:avLst/>
          </a:prstGeom>
          <a:solidFill>
            <a:schemeClr val="accent3"/>
          </a:solidFill>
          <a:ln w="12700">
            <a:solidFill>
              <a:schemeClr val="accent3"/>
            </a:solidFill>
            <a:prstDash val="solid"/>
          </a:ln>
        </p:spPr>
      </p:sp>
      <p:sp>
        <p:nvSpPr>
          <p:cNvPr id="11" name="tarjeta 3"/>
          <p:cNvSpPr txBox="1"/>
          <p:nvPr/>
        </p:nvSpPr>
        <p:spPr>
          <a:xfrm>
            <a:off x="6254496" y="1645920"/>
            <a:ext cx="2249424" cy="1600200"/>
          </a:xfrm>
          <a:prstGeom prst="rect">
            <a:avLst/>
          </a:prstGeom>
          <a:noFill/>
          <a:ln/>
        </p:spPr>
        <p:txBody>
          <a:bodyPr wrap="square" lIns="0" tIns="0" rIns="0" bIns="0" rtlCol="0" anchor="t"/>
          <a:lstStyle/>
          <a:p>
            <a:pPr indent="0" marL="0">
              <a:spcAft>
                <a:spcPts val="600"/>
              </a:spcAft>
              <a:buNone/>
            </a:pPr>
            <a:r>
              <a:rPr lang="en-US" sz="2000" b="1" dirty="0">
                <a:solidFill>
                  <a:schemeClr val="tx2"/>
                </a:solidFill>
              </a:rPr>
              <a:t>Next step</a:t>
            </a:r>
            <a:endParaRPr lang="en-US" sz="2000" dirty="0"/>
          </a:p>
          <a:p>
            <a:pPr indent="0" marL="0">
              <a:spcAft>
                <a:spcPts val="600"/>
              </a:spcAft>
              <a:buNone/>
            </a:pPr>
            <a:r>
              <a:rPr lang="en-US" sz="1800" dirty="0">
                <a:solidFill>
                  <a:schemeClr val="tx1"/>
                </a:solidFill>
              </a:rPr>
              <a:t>UTE Moodle and completion rate</a:t>
            </a:r>
            <a:endParaRPr lang="en-US" sz="2000" dirty="0"/>
          </a:p>
        </p:txBody>
      </p:sp>
      <p:sp>
        <p:nvSpPr>
          <p:cNvPr id="12"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1197864" y="146304"/>
            <a:ext cx="6766560" cy="438912"/>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Demo · Input</a:t>
            </a:r>
            <a:endParaRPr lang="en-US" sz="2400" dirty="0"/>
          </a:p>
        </p:txBody>
      </p:sp>
      <p:pic>
        <p:nvPicPr>
          <p:cNvPr id="3" name="captura" descr="Home: language, video and a voice guide that points at what it names.">    </p:cNvPr>
          <p:cNvPicPr>
            <a:picLocks noChangeAspect="1"/>
          </p:cNvPicPr>
          <p:nvPr/>
        </p:nvPicPr>
        <p:blipFill>
          <a:blip r:embed="rId1"/>
          <a:stretch>
            <a:fillRect/>
          </a:stretch>
        </p:blipFill>
        <p:spPr>
          <a:xfrm>
            <a:off x="1197864" y="896112"/>
            <a:ext cx="6748272" cy="3794760"/>
          </a:xfrm>
          <a:prstGeom prst="rect">
            <a:avLst/>
          </a:prstGeom>
        </p:spPr>
      </p:pic>
      <p:sp>
        <p:nvSpPr>
          <p:cNvPr id="4" name="marco"/>
          <p:cNvSpPr/>
          <p:nvPr/>
        </p:nvSpPr>
        <p:spPr>
          <a:xfrm>
            <a:off x="1197864" y="896112"/>
            <a:ext cx="6748272" cy="3794760"/>
          </a:xfrm>
          <a:prstGeom prst="rect">
            <a:avLst/>
          </a:prstGeom>
          <a:ln w="9525">
            <a:solidFill>
              <a:srgbClr val="D5D3E6"/>
            </a:solidFill>
            <a:prstDash val="solid"/>
          </a:ln>
        </p:spPr>
      </p:sp>
      <p:sp>
        <p:nvSpPr>
          <p:cNvPr id="5" name="rotulo"/>
          <p:cNvSpPr txBox="1"/>
          <p:nvPr/>
        </p:nvSpPr>
        <p:spPr>
          <a:xfrm>
            <a:off x="1197864" y="640080"/>
            <a:ext cx="6766560" cy="201168"/>
          </a:xfrm>
          <a:prstGeom prst="rect">
            <a:avLst/>
          </a:prstGeom>
          <a:noFill/>
          <a:ln/>
        </p:spPr>
        <p:txBody>
          <a:bodyPr wrap="square" lIns="0" tIns="0" rIns="0" bIns="0" rtlCol="0" anchor="ctr"/>
          <a:lstStyle/>
          <a:p>
            <a:pPr indent="0" marL="0">
              <a:buNone/>
            </a:pPr>
            <a:r>
              <a:rPr lang="en-US" sz="1200" dirty="0">
                <a:solidFill>
                  <a:schemeClr val="accent5"/>
                </a:solidFill>
              </a:rPr>
              <a:t>Home: language, video and a voice guide that points at what it names.</a:t>
            </a:r>
            <a:endParaRPr lang="en-US" sz="1200" dirty="0"/>
          </a:p>
        </p:txBody>
      </p:sp>
      <p:sp>
        <p:nvSpPr>
          <p:cNvPr id="6"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1197864" y="146304"/>
            <a:ext cx="6766560" cy="438912"/>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Demo · Result</a:t>
            </a:r>
            <a:endParaRPr lang="en-US" sz="2400" dirty="0"/>
          </a:p>
        </p:txBody>
      </p:sp>
      <p:pic>
        <p:nvPicPr>
          <p:cNvPr id="3" name="captura" descr="Narrated lesson: slide, caption and synchronized transcript.">    </p:cNvPr>
          <p:cNvPicPr>
            <a:picLocks noChangeAspect="1"/>
          </p:cNvPicPr>
          <p:nvPr/>
        </p:nvPicPr>
        <p:blipFill>
          <a:blip r:embed="rId1"/>
          <a:stretch>
            <a:fillRect/>
          </a:stretch>
        </p:blipFill>
        <p:spPr>
          <a:xfrm>
            <a:off x="1197864" y="896112"/>
            <a:ext cx="6748272" cy="3794760"/>
          </a:xfrm>
          <a:prstGeom prst="rect">
            <a:avLst/>
          </a:prstGeom>
        </p:spPr>
      </p:pic>
      <p:sp>
        <p:nvSpPr>
          <p:cNvPr id="4" name="marco"/>
          <p:cNvSpPr/>
          <p:nvPr/>
        </p:nvSpPr>
        <p:spPr>
          <a:xfrm>
            <a:off x="1197864" y="896112"/>
            <a:ext cx="6748272" cy="3794760"/>
          </a:xfrm>
          <a:prstGeom prst="rect">
            <a:avLst/>
          </a:prstGeom>
          <a:ln w="9525">
            <a:solidFill>
              <a:srgbClr val="D5D3E6"/>
            </a:solidFill>
            <a:prstDash val="solid"/>
          </a:ln>
        </p:spPr>
      </p:sp>
      <p:sp>
        <p:nvSpPr>
          <p:cNvPr id="5" name="rotulo"/>
          <p:cNvSpPr txBox="1"/>
          <p:nvPr/>
        </p:nvSpPr>
        <p:spPr>
          <a:xfrm>
            <a:off x="1197864" y="640080"/>
            <a:ext cx="6766560" cy="201168"/>
          </a:xfrm>
          <a:prstGeom prst="rect">
            <a:avLst/>
          </a:prstGeom>
          <a:noFill/>
          <a:ln/>
        </p:spPr>
        <p:txBody>
          <a:bodyPr wrap="square" lIns="0" tIns="0" rIns="0" bIns="0" rtlCol="0" anchor="ctr"/>
          <a:lstStyle/>
          <a:p>
            <a:pPr indent="0" marL="0">
              <a:buNone/>
            </a:pPr>
            <a:r>
              <a:rPr lang="en-US" sz="1200" dirty="0">
                <a:solidFill>
                  <a:schemeClr val="accent5"/>
                </a:solidFill>
              </a:rPr>
              <a:t>Narrated lesson: slide, caption and synchronized transcript.</a:t>
            </a:r>
            <a:endParaRPr lang="en-US" sz="1200" dirty="0"/>
          </a:p>
        </p:txBody>
      </p:sp>
      <p:sp>
        <p:nvSpPr>
          <p:cNvPr id="6"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1197864" y="146304"/>
            <a:ext cx="6766560" cy="438912"/>
          </a:xfrm>
          <a:prstGeom prst="rect">
            <a:avLst/>
          </a:prstGeom>
          <a:noFill/>
          <a:ln/>
        </p:spPr>
        <p:txBody>
          <a:bodyPr wrap="square" lIns="0" tIns="0" rIns="0" bIns="0" rtlCol="0" anchor="ctr"/>
          <a:lstStyle/>
          <a:p>
            <a:pPr algn="l" indent="0" marL="0">
              <a:buNone/>
            </a:pPr>
            <a:r>
              <a:rPr lang="en-US" sz="2400" b="1" dirty="0">
                <a:solidFill>
                  <a:schemeClr val="tx2"/>
                </a:solidFill>
                <a:latin typeface="Georgia" pitchFamily="34" charset="0"/>
                <a:ea typeface="Georgia" pitchFamily="34" charset="-122"/>
                <a:cs typeface="Georgia" pitchFamily="34" charset="-120"/>
              </a:rPr>
              <a:t>Demo · Review</a:t>
            </a:r>
            <a:endParaRPr lang="en-US" sz="2400" dirty="0"/>
          </a:p>
        </p:txBody>
      </p:sp>
      <p:pic>
        <p:nvPicPr>
          <p:cNvPr id="3" name="captura" descr="English version with a formative check before SCORM.">    </p:cNvPr>
          <p:cNvPicPr>
            <a:picLocks noChangeAspect="1"/>
          </p:cNvPicPr>
          <p:nvPr/>
        </p:nvPicPr>
        <p:blipFill>
          <a:blip r:embed="rId1"/>
          <a:stretch>
            <a:fillRect/>
          </a:stretch>
        </p:blipFill>
        <p:spPr>
          <a:xfrm>
            <a:off x="1197864" y="896112"/>
            <a:ext cx="6748272" cy="3794760"/>
          </a:xfrm>
          <a:prstGeom prst="rect">
            <a:avLst/>
          </a:prstGeom>
        </p:spPr>
      </p:pic>
      <p:sp>
        <p:nvSpPr>
          <p:cNvPr id="4" name="marco"/>
          <p:cNvSpPr/>
          <p:nvPr/>
        </p:nvSpPr>
        <p:spPr>
          <a:xfrm>
            <a:off x="1197864" y="896112"/>
            <a:ext cx="6748272" cy="3794760"/>
          </a:xfrm>
          <a:prstGeom prst="rect">
            <a:avLst/>
          </a:prstGeom>
          <a:ln w="9525">
            <a:solidFill>
              <a:srgbClr val="D5D3E6"/>
            </a:solidFill>
            <a:prstDash val="solid"/>
          </a:ln>
        </p:spPr>
      </p:sp>
      <p:sp>
        <p:nvSpPr>
          <p:cNvPr id="5" name="rotulo"/>
          <p:cNvSpPr txBox="1"/>
          <p:nvPr/>
        </p:nvSpPr>
        <p:spPr>
          <a:xfrm>
            <a:off x="1197864" y="640080"/>
            <a:ext cx="6766560" cy="201168"/>
          </a:xfrm>
          <a:prstGeom prst="rect">
            <a:avLst/>
          </a:prstGeom>
          <a:noFill/>
          <a:ln/>
        </p:spPr>
        <p:txBody>
          <a:bodyPr wrap="square" lIns="0" tIns="0" rIns="0" bIns="0" rtlCol="0" anchor="ctr"/>
          <a:lstStyle/>
          <a:p>
            <a:pPr indent="0" marL="0">
              <a:buNone/>
            </a:pPr>
            <a:r>
              <a:rPr lang="en-US" sz="1200" dirty="0">
                <a:solidFill>
                  <a:schemeClr val="accent5"/>
                </a:solidFill>
              </a:rPr>
              <a:t>English version with a formative check before SCORM.</a:t>
            </a:r>
            <a:endParaRPr lang="en-US" sz="1200" dirty="0"/>
          </a:p>
        </p:txBody>
      </p:sp>
      <p:sp>
        <p:nvSpPr>
          <p:cNvPr id="6"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chemeClr val="accent5"/>
                </a:solidFill>
              </a:rPr>
              <a:t>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1417320"/>
            <a:ext cx="822960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Georgia" pitchFamily="34" charset="0"/>
                <a:ea typeface="Georgia" pitchFamily="34" charset="-122"/>
                <a:cs typeface="Georgia" pitchFamily="34" charset="-120"/>
              </a:rPr>
              <a:t>A class you can hear</a:t>
            </a:r>
            <a:endParaRPr lang="en-US" sz="4000" dirty="0"/>
          </a:p>
        </p:txBody>
      </p:sp>
      <p:sp>
        <p:nvSpPr>
          <p:cNvPr id="3" name="frase"/>
          <p:cNvSpPr txBox="1"/>
          <p:nvPr/>
        </p:nvSpPr>
        <p:spPr>
          <a:xfrm>
            <a:off x="457200" y="2286000"/>
            <a:ext cx="8229600" cy="457200"/>
          </a:xfrm>
          <a:prstGeom prst="rect">
            <a:avLst/>
          </a:prstGeom>
          <a:noFill/>
          <a:ln/>
        </p:spPr>
        <p:txBody>
          <a:bodyPr wrap="square" lIns="0" tIns="0" rIns="0" bIns="0" rtlCol="0" anchor="ctr"/>
          <a:lstStyle/>
          <a:p>
            <a:pPr indent="0" marL="0">
              <a:buNone/>
            </a:pPr>
            <a:r>
              <a:rPr lang="en-US" sz="2200" dirty="0">
                <a:solidFill>
                  <a:srgbClr val="E6E3F7"/>
                </a:solidFill>
              </a:rPr>
              <a:t>From voiceless slides to a bilingual lesson.</a:t>
            </a:r>
            <a:endParaRPr lang="en-US" sz="2200" dirty="0"/>
          </a:p>
        </p:txBody>
      </p:sp>
      <p:sp>
        <p:nvSpPr>
          <p:cNvPr id="4" name="linea dorada"/>
          <p:cNvSpPr/>
          <p:nvPr/>
        </p:nvSpPr>
        <p:spPr>
          <a:xfrm>
            <a:off x="457200" y="2907792"/>
            <a:ext cx="1097280" cy="54864"/>
          </a:xfrm>
          <a:prstGeom prst="rect">
            <a:avLst/>
          </a:prstGeom>
          <a:solidFill>
            <a:schemeClr val="accent3"/>
          </a:solidFill>
          <a:ln w="12700">
            <a:solidFill>
              <a:schemeClr val="accent3"/>
            </a:solidFill>
            <a:prstDash val="solid"/>
          </a:ln>
        </p:spPr>
      </p:sp>
      <p:sp>
        <p:nvSpPr>
          <p:cNvPr id="5" name="enlace">
            <a:hlinkClick r:id="rId1" tooltip=""/>
          </p:cNvPr>
          <p:cNvSpPr txBox="1"/>
          <p:nvPr/>
        </p:nvSpPr>
        <p:spPr>
          <a:xfrm>
            <a:off x="457200" y="3108960"/>
            <a:ext cx="8229600" cy="365760"/>
          </a:xfrm>
          <a:prstGeom prst="rect">
            <a:avLst/>
          </a:prstGeom>
          <a:noFill/>
          <a:ln/>
        </p:spPr>
        <p:txBody>
          <a:bodyPr wrap="square" lIns="0" tIns="0" rIns="0" bIns="0" rtlCol="0" anchor="ctr"/>
          <a:lstStyle/>
          <a:p>
            <a:pPr indent="0" marL="0">
              <a:buNone/>
            </a:pPr>
            <a:r>
              <a:rPr lang="en-US" sz="1800" u="sng" dirty="0">
                <a:solidFill>
                  <a:schemeClr val="accent3"/>
                </a:solidFill>
                <a:hlinkClick r:id="rId1" invalidUrl="" action="" tgtFrame="" tooltip="" history="1" highlightClick="0" endSnd="0">
                  <a:extLst>
                    <a:ext uri="{A12FA001-AC4F-418D-AE19-62706E023703}">
                      <ahyp:hlinkClr xmlns:ahyp="http://schemas.microsoft.com/office/drawing/2018/hyperlinkcolor" val="tx"/>
                    </a:ext>
                  </a:extLst>
                </a:hlinkClick>
              </a:rPr>
              <a:t>claude.ai/artifact/HtAaBUVm6Jyhrco22LPEc9</a:t>
            </a:r>
            <a:endParaRPr lang="en-US" sz="1800" dirty="0"/>
          </a:p>
        </p:txBody>
      </p:sp>
      <p:sp>
        <p:nvSpPr>
          <p:cNvPr id="6" name="autor"/>
          <p:cNvSpPr txBox="1"/>
          <p:nvPr/>
        </p:nvSpPr>
        <p:spPr>
          <a:xfrm>
            <a:off x="457200" y="3566160"/>
            <a:ext cx="8229600" cy="365760"/>
          </a:xfrm>
          <a:prstGeom prst="rect">
            <a:avLst/>
          </a:prstGeom>
          <a:noFill/>
          <a:ln/>
        </p:spPr>
        <p:txBody>
          <a:bodyPr wrap="square" lIns="0" tIns="0" rIns="0" bIns="0" rtlCol="0" anchor="ctr"/>
          <a:lstStyle/>
          <a:p>
            <a:pPr indent="0" marL="0">
              <a:buNone/>
            </a:pPr>
            <a:r>
              <a:rPr lang="en-US" sz="1800" b="1" dirty="0">
                <a:solidFill>
                  <a:srgbClr val="FFFFFF"/>
                </a:solidFill>
              </a:rPr>
              <a:t>Juan Pablo Arrobo · UTPL</a:t>
            </a:r>
            <a:endParaRPr lang="en-US" sz="1800" dirty="0"/>
          </a:p>
        </p:txBody>
      </p:sp>
      <p:sp>
        <p:nvSpPr>
          <p:cNvPr id="7" name="numero"/>
          <p:cNvSpPr txBox="1"/>
          <p:nvPr/>
        </p:nvSpPr>
        <p:spPr>
          <a:xfrm>
            <a:off x="7772400" y="4773168"/>
            <a:ext cx="914400" cy="274320"/>
          </a:xfrm>
          <a:prstGeom prst="rect">
            <a:avLst/>
          </a:prstGeom>
          <a:noFill/>
          <a:ln/>
        </p:spPr>
        <p:txBody>
          <a:bodyPr wrap="square" lIns="0" tIns="0" rIns="0" bIns="0" rtlCol="0" anchor="ctr"/>
          <a:lstStyle/>
          <a:p>
            <a:pPr algn="r" indent="0" marL="0">
              <a:buNone/>
            </a:pPr>
            <a:r>
              <a:rPr lang="en-US" sz="1000" dirty="0">
                <a:solidFill>
                  <a:srgbClr val="C9CCE0"/>
                </a:solidFill>
              </a:rPr>
              <a:t>10 / 10</a:t>
            </a:r>
            <a:endParaRPr lang="en-US" sz="1000" dirty="0"/>
          </a:p>
        </p:txBody>
      </p:sp>
    </p:spTree>
  </p:cSld>
  <p:clrMapOvr>
    <a:masterClrMapping/>
  </p:clrMapOvr>
</p:sld>
</file>

<file path=ppt/theme/theme1.xml><?xml version="1.0" encoding="utf-8"?>
<a:theme xmlns:a="http://schemas.openxmlformats.org/drawingml/2006/main" name="Vibe Coding CEDIA">
  <a:themeElements>
    <a:clrScheme name="Vibe Coding CEDIA">
      <a:dk1>
        <a:srgbClr val="1F2430"/>
      </a:dk1>
      <a:lt1>
        <a:srgbClr val="FFFFFF"/>
      </a:lt1>
      <a:dk2>
        <a:srgbClr val="0B1020"/>
      </a:dk2>
      <a:lt2>
        <a:srgbClr val="F4F3FB"/>
      </a:lt2>
      <a:accent1>
        <a:srgbClr val="5B4BDB"/>
      </a:accent1>
      <a:accent2>
        <a:srgbClr val="0D9488"/>
      </a:accent2>
      <a:accent3>
        <a:srgbClr val="FFC629"/>
      </a:accent3>
      <a:accent4>
        <a:srgbClr val="B4502F"/>
      </a:accent4>
      <a:accent5>
        <a:srgbClr val="5A6170"/>
      </a:accent5>
      <a:accent6>
        <a:srgbClr val="E6E3F7"/>
      </a:accent6>
      <a:hlink>
        <a:srgbClr val="5B4BDB"/>
      </a:hlink>
      <a:folHlink>
        <a:srgbClr val="0D9488"/>
      </a:folHlink>
    </a:clrScheme>
    <a:fontScheme name="Vibe Coding CEDI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Narrated course site</dc:title>
  <dc:subject>PptxGenJS Presentation</dc:subject>
  <dc:creator>Juan Pablo Arrobo</dc:creator>
  <cp:lastModifiedBy>Juan Pablo Arrobo</cp:lastModifiedBy>
  <cp:revision>1</cp:revision>
  <dcterms:created xsi:type="dcterms:W3CDTF">2026-10-10T22:19:52Z</dcterms:created>
  <dcterms:modified xsi:type="dcterms:W3CDTF">2026-10-10T22:19:52Z</dcterms:modified>
</cp:coreProperties>
</file>