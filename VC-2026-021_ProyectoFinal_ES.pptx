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15 s]
Presentamos el sitio narrado de la asignatura Toma de decisiones y comunicación estratégica en salud. Convierte una clase de diapositivas en una lección que se escucha en español y en inglés.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 35 s]
Los estudiantes de la Maestría en Gerencia de Salud trabajan en hospitales y centros de salud. Quien trabaja por turnos puede perder una clase sincrónica del sábado. Cuando eso ocurre le quedan unas diapositivas sin voz y un sílabo en P D F. Piense en una enfermera que sale de un turno de noche. Quiere repasar la clase de escucha activa a su propio ritmo. Hoy no tiene una versión que pueda escuchar, ni en español ni en inglés.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 · 30 s]
La herramienta parte de la guía de proyecto veintiuno del curso, el sitio interactivo del sílabo. La usan los docentes y los estudiantes. Recibe el sílabo aprobado, las diapositivas de clase y los artículos de consulta. Entrega un sitio bilingüe con cronograma, evaluación y recursos. En los recursos hay una lección narrada de catorce diapositivas con subtítulos. También entrega dos paquetes S C O R M para el Aula Virtual.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40 s]
El flujo tiene cuatro pasos. El docente entrega sus diapositivas y elige el tema de la lección. Claude redacta el guion de cada diapositiva con reglas de narración y lo revisa con un auditor automático. Luego reconstruye las diapositivas en los dos idiomas, genera la voz y los subtítulos y arma los paquetes. El docente lee cada texto, escucha cada audio y decide qué ejemplos se quedan. En esta lección decidió cambiar fotos de políticos por escenas de gestión de salud. Una persona aprueba siempre lo que se publica.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35 s]
Comprobamos tres cosas con programas y no con opiniones. El auditor de guiones revisó treinta textos y encontró cero errores. El revisor de la guía de voz probó diecinueve pasos en español, en inglés y en ancho de teléfono. Los diecinueve pasos encerraron el elemento que nombra la voz. La lección funcionó en el navegador con subtítulos sincronizados y tres comprobaciones. Todavía no la probamos con estudiantes. Eso sigue siendo una propuesta.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 · 25 s]
La herramienta no reemplaza la clase sincrónica ni la retroalimentación del docente. La voz de la lección todavía es provisional y la cambiaremos por ElevenLabs con la misma voz en los dos idiomas. El sitio no recoge datos personales. El siguiente paso es subir los paquetes al Moodle de la U T E y medir cuántos estudiantes completan la lección.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 30 s]
Veamos la herramienta en pantalla. Esta es la página de inicio del sitio. Bajo el título y los datos del curso aparece la guía de voz de la página. Al pulsarla una voz recorre el sitio y encierra con un círculo lo que nombra. En esta captura encierra las tres tarjetas de inicio. Así la persona se orienta sin leer un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 35 s]
Este es el resultado central. En la pestaña Recursos aparece la lección narrada sobre habilidades comunicativas. A la izquierda está la lista de diapositivas. En el centro se ve la diapositiva con su subtítulo. A la derecha la transcripción resalta la frase que suena. El botón Siguiente se habilita al terminar la narración. Quien no puede escuchar tiene una opción para continuar sin audio. Nadie queda bloqueado en una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 · 30 s]
Aquí se ve la versión en inglés con una comprobación rápida. La pregunta es formativa y muestra la explicación al responder. Antes de publicar el docente revisa las capturas que genera el revisor automático, paso por paso. Después sube el paquete S C O R M al Aula Virtual. La plataforma marca la lección como completada cuando el estudiante llega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 · 25 s]
Con esta herramienta una clase del sábado se convierte en una lección que se escucha en dos idiomas. La preparamos en una sola sesión de trabajo con Claude. El siguiente paso es probarla con el grupo de la maestría. Le invitamos a abrir el sitio y escuchar la guía.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chemeClr val="accent1"/>
          </a:solidFill>
          <a:ln/>
        </p:spPr>
      </p:sp>
      <p:sp>
        <p:nvSpPr>
          <p:cNvPr id="3" name="Text 1"/>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Vibe Coding CEDIA 2026 · Universidad UTE · UTPL</a:t>
            </a:r>
            <a:endParaRPr lang="en-US" sz="1000" dirty="0"/>
          </a:p>
        </p:txBody>
      </p:sp>
      <p:sp>
        <p:nvSpPr>
          <p:cNvPr id="4" name="Text 2"/>
          <p:cNvSpPr/>
          <p:nvPr>
            <p:ph idx="102" type="title" hasCustomPrompt="1"/>
          </p:nvPr>
        </p:nvSpPr>
        <p:spPr>
          <a:xfrm>
            <a:off x="457200" y="256032"/>
            <a:ext cx="8229600" cy="640080"/>
          </a:xfrm>
          <a:prstGeom prst="rect">
            <a:avLst/>
          </a:prstGeom>
          <a:noFill/>
          <a:ln/>
        </p:spPr>
        <p:txBody>
          <a:bodyPr wrap="square" rtlCol="0"/>
          <a:lstStyle>
            <a:lvl1pPr algn="l" indent="0" marL="0">
              <a:buNone/>
              <a:defRPr lang="en-US" sz="3000" b="1" dirty="0">
                <a:solidFill>
                  <a:schemeClr val="tx2"/>
                </a:solidFill>
                <a:latin typeface="Georgia" pitchFamily="34" charset="0"/>
                <a:ea typeface="Georgia" pitchFamily="34" charset="-122"/>
                <a:cs typeface="Georgia" pitchFamily="34" charset="-120"/>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chemeClr val="accent1"/>
          </a:solidFill>
          <a:ln/>
        </p:spPr>
      </p:sp>
      <p:sp>
        <p:nvSpPr>
          <p:cNvPr id="3" name="Text 1"/>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Vibe Coding CEDIA 2026 · Universidad UTE · UTPL</a:t>
            </a:r>
            <a:endParaRPr lang="en-US" sz="1000" dirty="0"/>
          </a:p>
        </p:txBody>
      </p:sp>
      <p:sp>
        <p:nvSpPr>
          <p:cNvPr id="4" name="Text 2"/>
          <p:cNvSpPr/>
          <p:nvPr>
            <p:ph idx="102" type="title" hasCustomPrompt="1"/>
          </p:nvPr>
        </p:nvSpPr>
        <p:spPr>
          <a:xfrm>
            <a:off x="1197864" y="146304"/>
            <a:ext cx="6766560" cy="438912"/>
          </a:xfrm>
          <a:prstGeom prst="rect">
            <a:avLst/>
          </a:prstGeom>
          <a:noFill/>
          <a:ln/>
        </p:spPr>
        <p:txBody>
          <a:bodyPr wrap="square" rtlCol="0"/>
          <a:lstStyle>
            <a:lvl1pPr algn="l" indent="0" marL="0">
              <a:buNone/>
              <a:defRPr lang="en-US" sz="2400" b="1" dirty="0">
                <a:solidFill>
                  <a:schemeClr val="tx2"/>
                </a:solidFill>
                <a:latin typeface="Georgia" pitchFamily="34" charset="0"/>
                <a:ea typeface="Georgia" pitchFamily="34" charset="-122"/>
                <a:cs typeface="Georgia" pitchFamily="34" charset="-120"/>
              </a:defRPr>
            </a:lvl1pPr>
          </a:lstStyle>
          <a:p>
            <a:pPr algn="l"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rgbClr val="C9CCE0"/>
                </a:solidFill>
                <a:latin typeface="Calibri" pitchFamily="34" charset="0"/>
                <a:ea typeface="Calibri" pitchFamily="34" charset="-122"/>
                <a:cs typeface="Calibri" pitchFamily="34" charset="-120"/>
              </a:rPr>
              <a:t>Vibe Coding CEDIA 2026 · Universidad UTE · UTPL</a:t>
            </a:r>
            <a:endParaRPr lang="en-US" sz="1000" dirty="0"/>
          </a:p>
        </p:txBody>
      </p:sp>
      <p:sp>
        <p:nvSpPr>
          <p:cNvPr id="3" name="Text 1"/>
          <p:cNvSpPr/>
          <p:nvPr>
            <p:ph idx="101" type="title" hasCustomPrompt="1"/>
          </p:nvPr>
        </p:nvSpPr>
        <p:spPr>
          <a:xfrm>
            <a:off x="457200" y="1417320"/>
            <a:ext cx="8229600" cy="822960"/>
          </a:xfrm>
          <a:prstGeom prst="rect">
            <a:avLst/>
          </a:prstGeom>
          <a:noFill/>
          <a:ln/>
        </p:spPr>
        <p:txBody>
          <a:bodyPr wrap="square" rtlCol="0"/>
          <a:lstStyle>
            <a:lvl1pPr algn="l" indent="0" marL="0">
              <a:buNone/>
              <a:defRPr lang="en-US" sz="4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laude.ai/artifact/HtAaBUVm6Jyhrco22LPEc9" TargetMode="Externa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fondo logos"/>
          <p:cNvSpPr/>
          <p:nvPr/>
        </p:nvSpPr>
        <p:spPr>
          <a:xfrm>
            <a:off x="457200" y="411480"/>
            <a:ext cx="2331720" cy="685800"/>
          </a:xfrm>
          <a:prstGeom prst="roundRect">
            <a:avLst>
              <a:gd name="adj" fmla="val 10667"/>
            </a:avLst>
          </a:prstGeom>
          <a:solidFill>
            <a:srgbClr val="FFFFFF"/>
          </a:solidFill>
          <a:ln w="12700">
            <a:solidFill>
              <a:srgbClr val="FFFFFF"/>
            </a:solidFill>
            <a:prstDash val="solid"/>
          </a:ln>
        </p:spPr>
      </p:sp>
      <p:pic>
        <p:nvPicPr>
          <p:cNvPr id="3" name="logo UTE" descr="Universidad UTE">    </p:cNvPr>
          <p:cNvPicPr>
            <a:picLocks noChangeAspect="1"/>
          </p:cNvPicPr>
          <p:nvPr/>
        </p:nvPicPr>
        <p:blipFill>
          <a:blip r:embed="rId1"/>
          <a:stretch>
            <a:fillRect/>
          </a:stretch>
        </p:blipFill>
        <p:spPr>
          <a:xfrm>
            <a:off x="566928" y="475488"/>
            <a:ext cx="704088" cy="557784"/>
          </a:xfrm>
          <a:prstGeom prst="rect">
            <a:avLst/>
          </a:prstGeom>
        </p:spPr>
      </p:pic>
      <p:pic>
        <p:nvPicPr>
          <p:cNvPr id="4" name="logo UTPL" descr="UTPL">    </p:cNvPr>
          <p:cNvPicPr>
            <a:picLocks noChangeAspect="1"/>
          </p:cNvPicPr>
          <p:nvPr/>
        </p:nvPicPr>
        <p:blipFill>
          <a:blip r:embed="rId2"/>
          <a:stretch>
            <a:fillRect/>
          </a:stretch>
        </p:blipFill>
        <p:spPr>
          <a:xfrm>
            <a:off x="1371600" y="475488"/>
            <a:ext cx="1088136" cy="557784"/>
          </a:xfrm>
          <a:prstGeom prst="rect">
            <a:avLst/>
          </a:prstGeom>
        </p:spPr>
      </p:pic>
      <p:sp>
        <p:nvSpPr>
          <p:cNvPr id="5" name="Text 1"/>
          <p:cNvSpPr/>
          <p:nvPr>
            <p:ph idx="101" type="title" hasCustomPrompt="1"/>
          </p:nvPr>
        </p:nvSpPr>
        <p:spPr>
          <a:xfrm>
            <a:off x="457200" y="141732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Georgia" pitchFamily="34" charset="0"/>
                <a:ea typeface="Georgia" pitchFamily="34" charset="-122"/>
                <a:cs typeface="Georgia" pitchFamily="34" charset="-120"/>
              </a:rPr>
              <a:t>Sitio narrado del curso</a:t>
            </a:r>
            <a:endParaRPr lang="en-US" sz="4000" dirty="0"/>
          </a:p>
        </p:txBody>
      </p:sp>
      <p:sp>
        <p:nvSpPr>
          <p:cNvPr id="6" name="subtitulo"/>
          <p:cNvSpPr txBox="1"/>
          <p:nvPr/>
        </p:nvSpPr>
        <p:spPr>
          <a:xfrm>
            <a:off x="457200" y="2286000"/>
            <a:ext cx="8229600" cy="457200"/>
          </a:xfrm>
          <a:prstGeom prst="rect">
            <a:avLst/>
          </a:prstGeom>
          <a:noFill/>
          <a:ln/>
        </p:spPr>
        <p:txBody>
          <a:bodyPr wrap="square" lIns="0" tIns="0" rIns="0" bIns="0" rtlCol="0" anchor="ctr"/>
          <a:lstStyle/>
          <a:p>
            <a:pPr indent="0" marL="0">
              <a:buNone/>
            </a:pPr>
            <a:r>
              <a:rPr lang="en-US" sz="2000" dirty="0">
                <a:solidFill>
                  <a:srgbClr val="E6E3F7"/>
                </a:solidFill>
              </a:rPr>
              <a:t>Una clase convertida en lección bilingüe</a:t>
            </a:r>
            <a:endParaRPr lang="en-US" sz="2000" dirty="0"/>
          </a:p>
        </p:txBody>
      </p:sp>
      <p:sp>
        <p:nvSpPr>
          <p:cNvPr id="7" name="linea dorada"/>
          <p:cNvSpPr/>
          <p:nvPr/>
        </p:nvSpPr>
        <p:spPr>
          <a:xfrm>
            <a:off x="457200" y="2907792"/>
            <a:ext cx="1097280" cy="54864"/>
          </a:xfrm>
          <a:prstGeom prst="rect">
            <a:avLst/>
          </a:prstGeom>
          <a:solidFill>
            <a:schemeClr val="accent3"/>
          </a:solidFill>
          <a:ln w="12700">
            <a:solidFill>
              <a:schemeClr val="accent3"/>
            </a:solidFill>
            <a:prstDash val="solid"/>
          </a:ln>
        </p:spPr>
      </p:sp>
      <p:sp>
        <p:nvSpPr>
          <p:cNvPr id="8" name="autor"/>
          <p:cNvSpPr txBox="1"/>
          <p:nvPr/>
        </p:nvSpPr>
        <p:spPr>
          <a:xfrm>
            <a:off x="457200" y="3108960"/>
            <a:ext cx="8229600" cy="365760"/>
          </a:xfrm>
          <a:prstGeom prst="rect">
            <a:avLst/>
          </a:prstGeom>
          <a:noFill/>
          <a:ln/>
        </p:spPr>
        <p:txBody>
          <a:bodyPr wrap="square" lIns="0" tIns="0" rIns="0" bIns="0" rtlCol="0" anchor="ctr"/>
          <a:lstStyle/>
          <a:p>
            <a:pPr indent="0" marL="0">
              <a:buNone/>
            </a:pPr>
            <a:r>
              <a:rPr lang="en-US" sz="1800" b="1" dirty="0">
                <a:solidFill>
                  <a:schemeClr val="accent3"/>
                </a:solidFill>
              </a:rPr>
              <a:t>Juan Pablo Arrobo · UTPL · VC-2026-021</a:t>
            </a:r>
            <a:endParaRPr lang="en-US" sz="1800" dirty="0"/>
          </a:p>
        </p:txBody>
      </p:sp>
      <p:sp>
        <p:nvSpPr>
          <p:cNvPr id="9" name="aviso IA"/>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200" i="1" dirty="0">
                <a:solidFill>
                  <a:srgbClr val="C9CCE0"/>
                </a:solidFill>
              </a:rPr>
              <a:t>Narración generada con voz de IA (ElevenLabs) y revisada por los autores</a:t>
            </a:r>
            <a:endParaRPr lang="en-US" sz="1200" dirty="0"/>
          </a:p>
        </p:txBody>
      </p:sp>
      <p:sp>
        <p:nvSpPr>
          <p:cNvPr id="10"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rgbClr val="C9CCE0"/>
                </a:solidFill>
              </a:rPr>
              <a:t>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El problema</a:t>
            </a:r>
            <a:endParaRPr lang="en-US" sz="3000" dirty="0"/>
          </a:p>
        </p:txBody>
      </p:sp>
      <p:sp>
        <p:nvSpPr>
          <p:cNvPr id="3" name="frase"/>
          <p:cNvSpPr txBox="1"/>
          <p:nvPr/>
        </p:nvSpPr>
        <p:spPr>
          <a:xfrm>
            <a:off x="457200" y="1234440"/>
            <a:ext cx="8229600" cy="1280160"/>
          </a:xfrm>
          <a:prstGeom prst="rect">
            <a:avLst/>
          </a:prstGeom>
          <a:noFill/>
          <a:ln/>
        </p:spPr>
        <p:txBody>
          <a:bodyPr wrap="square" lIns="0" tIns="0" rIns="0" bIns="0" rtlCol="0" anchor="ctr"/>
          <a:lstStyle/>
          <a:p>
            <a:pPr indent="0" marL="0">
              <a:buNone/>
            </a:pPr>
            <a:r>
              <a:rPr lang="en-US" sz="3000" dirty="0">
                <a:solidFill>
                  <a:schemeClr val="accent1"/>
                </a:solidFill>
                <a:latin typeface="Georgia" pitchFamily="34" charset="0"/>
                <a:ea typeface="Georgia" pitchFamily="34" charset="-122"/>
                <a:cs typeface="Georgia" pitchFamily="34" charset="-120"/>
              </a:rPr>
              <a:t>Quien falta el sábado pierde la voz del docente.</a:t>
            </a:r>
            <a:endParaRPr lang="en-US" sz="3000" dirty="0"/>
          </a:p>
        </p:txBody>
      </p:sp>
      <p:sp>
        <p:nvSpPr>
          <p:cNvPr id="4" name="barra ejemplo"/>
          <p:cNvSpPr/>
          <p:nvPr/>
        </p:nvSpPr>
        <p:spPr>
          <a:xfrm>
            <a:off x="457200" y="2880360"/>
            <a:ext cx="73152" cy="914400"/>
          </a:xfrm>
          <a:prstGeom prst="rect">
            <a:avLst/>
          </a:prstGeom>
          <a:solidFill>
            <a:schemeClr val="accent2"/>
          </a:solidFill>
          <a:ln w="12700">
            <a:solidFill>
              <a:schemeClr val="accent2"/>
            </a:solidFill>
            <a:prstDash val="solid"/>
          </a:ln>
        </p:spPr>
      </p:sp>
      <p:sp>
        <p:nvSpPr>
          <p:cNvPr id="5" name="ejemplo"/>
          <p:cNvSpPr txBox="1"/>
          <p:nvPr/>
        </p:nvSpPr>
        <p:spPr>
          <a:xfrm>
            <a:off x="685800" y="2880360"/>
            <a:ext cx="7772400" cy="914400"/>
          </a:xfrm>
          <a:prstGeom prst="rect">
            <a:avLst/>
          </a:prstGeom>
          <a:noFill/>
          <a:ln/>
        </p:spPr>
        <p:txBody>
          <a:bodyPr wrap="square" lIns="0" tIns="0" rIns="0" bIns="0" rtlCol="0" anchor="ctr"/>
          <a:lstStyle/>
          <a:p>
            <a:pPr indent="0" marL="0">
              <a:buNone/>
            </a:pPr>
            <a:r>
              <a:rPr lang="en-US" sz="2200" dirty="0">
                <a:solidFill>
                  <a:schemeClr val="tx1"/>
                </a:solidFill>
              </a:rPr>
              <a:t>Ejemplo: una enfermera sale de turno y quiere repasar escucha activa.</a:t>
            </a:r>
            <a:endParaRPr lang="en-US" sz="2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La herramienta</a:t>
            </a:r>
            <a:endParaRPr lang="en-US" sz="3000" dirty="0"/>
          </a:p>
        </p:txBody>
      </p:sp>
      <p:sp>
        <p:nvSpPr>
          <p:cNvPr id="3" name="tarjeta 1 fondo"/>
          <p:cNvSpPr/>
          <p:nvPr/>
        </p:nvSpPr>
        <p:spPr>
          <a:xfrm>
            <a:off x="457200" y="1463040"/>
            <a:ext cx="2615184" cy="1920240"/>
          </a:xfrm>
          <a:prstGeom prst="roundRect">
            <a:avLst>
              <a:gd name="adj" fmla="val 3810"/>
            </a:avLst>
          </a:prstGeom>
          <a:solidFill>
            <a:schemeClr val="bg2"/>
          </a:solidFill>
          <a:ln w="12700">
            <a:solidFill>
              <a:schemeClr val="bg2"/>
            </a:solidFill>
            <a:prstDash val="solid"/>
          </a:ln>
        </p:spPr>
      </p:sp>
      <p:sp>
        <p:nvSpPr>
          <p:cNvPr id="4" name="tarjeta 1 acento"/>
          <p:cNvSpPr/>
          <p:nvPr/>
        </p:nvSpPr>
        <p:spPr>
          <a:xfrm>
            <a:off x="457200" y="1463040"/>
            <a:ext cx="2615184" cy="64008"/>
          </a:xfrm>
          <a:prstGeom prst="rect">
            <a:avLst/>
          </a:prstGeom>
          <a:solidFill>
            <a:schemeClr val="accent1"/>
          </a:solidFill>
          <a:ln w="12700">
            <a:solidFill>
              <a:schemeClr val="accent1"/>
            </a:solidFill>
            <a:prstDash val="solid"/>
          </a:ln>
        </p:spPr>
      </p:sp>
      <p:sp>
        <p:nvSpPr>
          <p:cNvPr id="5" name="tarjeta 1"/>
          <p:cNvSpPr txBox="1"/>
          <p:nvPr/>
        </p:nvSpPr>
        <p:spPr>
          <a:xfrm>
            <a:off x="640080"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Quién</a:t>
            </a:r>
            <a:endParaRPr lang="en-US" sz="2000" dirty="0"/>
          </a:p>
          <a:p>
            <a:pPr indent="0" marL="0">
              <a:spcAft>
                <a:spcPts val="600"/>
              </a:spcAft>
              <a:buNone/>
            </a:pPr>
            <a:r>
              <a:rPr lang="en-US" sz="1800" dirty="0">
                <a:solidFill>
                  <a:schemeClr val="tx1"/>
                </a:solidFill>
              </a:rPr>
              <a:t>Docentes y estudiantes de la maestría</a:t>
            </a:r>
            <a:endParaRPr lang="en-US" sz="2000" dirty="0"/>
          </a:p>
        </p:txBody>
      </p:sp>
      <p:sp>
        <p:nvSpPr>
          <p:cNvPr id="6" name="tarjeta 2 fondo"/>
          <p:cNvSpPr/>
          <p:nvPr/>
        </p:nvSpPr>
        <p:spPr>
          <a:xfrm>
            <a:off x="3264408" y="1463040"/>
            <a:ext cx="2615184" cy="1920240"/>
          </a:xfrm>
          <a:prstGeom prst="roundRect">
            <a:avLst>
              <a:gd name="adj" fmla="val 3810"/>
            </a:avLst>
          </a:prstGeom>
          <a:solidFill>
            <a:schemeClr val="bg2"/>
          </a:solidFill>
          <a:ln w="12700">
            <a:solidFill>
              <a:schemeClr val="bg2"/>
            </a:solidFill>
            <a:prstDash val="solid"/>
          </a:ln>
        </p:spPr>
      </p:sp>
      <p:sp>
        <p:nvSpPr>
          <p:cNvPr id="7" name="tarjeta 2 acento"/>
          <p:cNvSpPr/>
          <p:nvPr/>
        </p:nvSpPr>
        <p:spPr>
          <a:xfrm>
            <a:off x="3264408" y="1463040"/>
            <a:ext cx="2615184" cy="64008"/>
          </a:xfrm>
          <a:prstGeom prst="rect">
            <a:avLst/>
          </a:prstGeom>
          <a:solidFill>
            <a:schemeClr val="accent2"/>
          </a:solidFill>
          <a:ln w="12700">
            <a:solidFill>
              <a:schemeClr val="accent2"/>
            </a:solidFill>
            <a:prstDash val="solid"/>
          </a:ln>
        </p:spPr>
      </p:sp>
      <p:sp>
        <p:nvSpPr>
          <p:cNvPr id="8" name="tarjeta 2"/>
          <p:cNvSpPr txBox="1"/>
          <p:nvPr/>
        </p:nvSpPr>
        <p:spPr>
          <a:xfrm>
            <a:off x="3447288"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Recibe</a:t>
            </a:r>
            <a:endParaRPr lang="en-US" sz="2000" dirty="0"/>
          </a:p>
          <a:p>
            <a:pPr indent="0" marL="0">
              <a:spcAft>
                <a:spcPts val="600"/>
              </a:spcAft>
              <a:buNone/>
            </a:pPr>
            <a:r>
              <a:rPr lang="en-US" sz="1800" dirty="0">
                <a:solidFill>
                  <a:schemeClr val="tx1"/>
                </a:solidFill>
              </a:rPr>
              <a:t>Sílabo, diapositivas y lecturas</a:t>
            </a:r>
            <a:endParaRPr lang="en-US" sz="2000" dirty="0"/>
          </a:p>
        </p:txBody>
      </p:sp>
      <p:sp>
        <p:nvSpPr>
          <p:cNvPr id="9" name="tarjeta 3 fondo"/>
          <p:cNvSpPr/>
          <p:nvPr/>
        </p:nvSpPr>
        <p:spPr>
          <a:xfrm>
            <a:off x="6071616" y="1463040"/>
            <a:ext cx="2615184" cy="1920240"/>
          </a:xfrm>
          <a:prstGeom prst="roundRect">
            <a:avLst>
              <a:gd name="adj" fmla="val 3810"/>
            </a:avLst>
          </a:prstGeom>
          <a:solidFill>
            <a:schemeClr val="bg2"/>
          </a:solidFill>
          <a:ln w="12700">
            <a:solidFill>
              <a:schemeClr val="bg2"/>
            </a:solidFill>
            <a:prstDash val="solid"/>
          </a:ln>
        </p:spPr>
      </p:sp>
      <p:sp>
        <p:nvSpPr>
          <p:cNvPr id="10" name="tarjeta 3 acento"/>
          <p:cNvSpPr/>
          <p:nvPr/>
        </p:nvSpPr>
        <p:spPr>
          <a:xfrm>
            <a:off x="6071616" y="1463040"/>
            <a:ext cx="2615184" cy="64008"/>
          </a:xfrm>
          <a:prstGeom prst="rect">
            <a:avLst/>
          </a:prstGeom>
          <a:solidFill>
            <a:schemeClr val="accent3"/>
          </a:solidFill>
          <a:ln w="12700">
            <a:solidFill>
              <a:schemeClr val="accent3"/>
            </a:solidFill>
            <a:prstDash val="solid"/>
          </a:ln>
        </p:spPr>
      </p:sp>
      <p:sp>
        <p:nvSpPr>
          <p:cNvPr id="11" name="tarjeta 3"/>
          <p:cNvSpPr txBox="1"/>
          <p:nvPr/>
        </p:nvSpPr>
        <p:spPr>
          <a:xfrm>
            <a:off x="6254496"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Entrega</a:t>
            </a:r>
            <a:endParaRPr lang="en-US" sz="2000" dirty="0"/>
          </a:p>
          <a:p>
            <a:pPr indent="0" marL="0">
              <a:spcAft>
                <a:spcPts val="600"/>
              </a:spcAft>
              <a:buNone/>
            </a:pPr>
            <a:r>
              <a:rPr lang="en-US" sz="1800" dirty="0">
                <a:solidFill>
                  <a:schemeClr val="tx1"/>
                </a:solidFill>
              </a:rPr>
              <a:t>Sitio bilingüe, lección narrada y SCORM</a:t>
            </a:r>
            <a:endParaRPr lang="en-US" sz="2000" dirty="0"/>
          </a:p>
        </p:txBody>
      </p:sp>
      <p:sp>
        <p:nvSpPr>
          <p:cNvPr id="12"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Cómo funciona</a:t>
            </a:r>
            <a:endParaRPr lang="en-US" sz="3000" dirty="0"/>
          </a:p>
        </p:txBody>
      </p:sp>
      <p:sp>
        <p:nvSpPr>
          <p:cNvPr id="3" name="paso 1 fondo"/>
          <p:cNvSpPr/>
          <p:nvPr/>
        </p:nvSpPr>
        <p:spPr>
          <a:xfrm>
            <a:off x="457200" y="1600200"/>
            <a:ext cx="1783080" cy="2011680"/>
          </a:xfrm>
          <a:prstGeom prst="roundRect">
            <a:avLst>
              <a:gd name="adj" fmla="val 4103"/>
            </a:avLst>
          </a:prstGeom>
          <a:solidFill>
            <a:schemeClr val="bg2"/>
          </a:solidFill>
          <a:ln w="9525">
            <a:solidFill>
              <a:schemeClr val="bg2"/>
            </a:solidFill>
            <a:prstDash val="solid"/>
          </a:ln>
        </p:spPr>
      </p:sp>
      <p:sp>
        <p:nvSpPr>
          <p:cNvPr id="4" name="paso 1"/>
          <p:cNvSpPr txBox="1"/>
          <p:nvPr/>
        </p:nvSpPr>
        <p:spPr>
          <a:xfrm>
            <a:off x="594360"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Georgia" pitchFamily="34" charset="0"/>
                <a:ea typeface="Georgia" pitchFamily="34" charset="-122"/>
                <a:cs typeface="Georgia" pitchFamily="34" charset="-120"/>
              </a:rPr>
              <a:t>1</a:t>
            </a:r>
            <a:endParaRPr lang="en-US" sz="3000" dirty="0"/>
          </a:p>
          <a:p>
            <a:pPr indent="0" marL="0">
              <a:spcAft>
                <a:spcPts val="400"/>
              </a:spcAft>
              <a:buNone/>
            </a:pPr>
            <a:r>
              <a:rPr lang="en-US" sz="1900" b="1" dirty="0">
                <a:solidFill>
                  <a:schemeClr val="tx2"/>
                </a:solidFill>
              </a:rPr>
              <a:t>Entrada</a:t>
            </a:r>
            <a:endParaRPr lang="en-US" sz="3000" dirty="0"/>
          </a:p>
          <a:p>
            <a:pPr indent="0" marL="0">
              <a:spcAft>
                <a:spcPts val="400"/>
              </a:spcAft>
              <a:buNone/>
            </a:pPr>
            <a:r>
              <a:rPr lang="en-US" sz="1800" dirty="0">
                <a:solidFill>
                  <a:schemeClr val="tx1"/>
                </a:solidFill>
              </a:rPr>
              <a:t>Diapositivas y tema</a:t>
            </a:r>
            <a:endParaRPr lang="en-US" sz="3000" dirty="0"/>
          </a:p>
        </p:txBody>
      </p:sp>
      <p:sp>
        <p:nvSpPr>
          <p:cNvPr id="5" name="flecha 1"/>
          <p:cNvSpPr/>
          <p:nvPr/>
        </p:nvSpPr>
        <p:spPr>
          <a:xfrm>
            <a:off x="2304288" y="2487168"/>
            <a:ext cx="201168" cy="237744"/>
          </a:xfrm>
          <a:prstGeom prst="rtTriangle">
            <a:avLst/>
          </a:prstGeom>
          <a:solidFill>
            <a:schemeClr val="accent5"/>
          </a:solidFill>
          <a:ln w="12700">
            <a:solidFill>
              <a:schemeClr val="accent5"/>
            </a:solidFill>
            <a:prstDash val="solid"/>
          </a:ln>
        </p:spPr>
      </p:sp>
      <p:sp>
        <p:nvSpPr>
          <p:cNvPr id="6" name="paso 2 fondo"/>
          <p:cNvSpPr/>
          <p:nvPr/>
        </p:nvSpPr>
        <p:spPr>
          <a:xfrm>
            <a:off x="2578608" y="1600200"/>
            <a:ext cx="1783080" cy="2011680"/>
          </a:xfrm>
          <a:prstGeom prst="roundRect">
            <a:avLst>
              <a:gd name="adj" fmla="val 4103"/>
            </a:avLst>
          </a:prstGeom>
          <a:solidFill>
            <a:schemeClr val="bg2"/>
          </a:solidFill>
          <a:ln w="9525">
            <a:solidFill>
              <a:schemeClr val="bg2"/>
            </a:solidFill>
            <a:prstDash val="solid"/>
          </a:ln>
        </p:spPr>
      </p:sp>
      <p:sp>
        <p:nvSpPr>
          <p:cNvPr id="7" name="paso 2"/>
          <p:cNvSpPr txBox="1"/>
          <p:nvPr/>
        </p:nvSpPr>
        <p:spPr>
          <a:xfrm>
            <a:off x="2715768"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2"/>
                </a:solidFill>
                <a:latin typeface="Georgia" pitchFamily="34" charset="0"/>
                <a:ea typeface="Georgia" pitchFamily="34" charset="-122"/>
                <a:cs typeface="Georgia" pitchFamily="34" charset="-120"/>
              </a:rPr>
              <a:t>2</a:t>
            </a:r>
            <a:endParaRPr lang="en-US" sz="3000" dirty="0"/>
          </a:p>
          <a:p>
            <a:pPr indent="0" marL="0">
              <a:spcAft>
                <a:spcPts val="400"/>
              </a:spcAft>
              <a:buNone/>
            </a:pPr>
            <a:r>
              <a:rPr lang="en-US" sz="1900" b="1" dirty="0">
                <a:solidFill>
                  <a:schemeClr val="tx2"/>
                </a:solidFill>
              </a:rPr>
              <a:t>IA</a:t>
            </a:r>
            <a:endParaRPr lang="en-US" sz="3000" dirty="0"/>
          </a:p>
          <a:p>
            <a:pPr indent="0" marL="0">
              <a:spcAft>
                <a:spcPts val="400"/>
              </a:spcAft>
              <a:buNone/>
            </a:pPr>
            <a:r>
              <a:rPr lang="en-US" sz="1800" dirty="0">
                <a:solidFill>
                  <a:schemeClr val="tx1"/>
                </a:solidFill>
              </a:rPr>
              <a:t>Guion, voz, subtítulos</a:t>
            </a:r>
            <a:endParaRPr lang="en-US" sz="3000" dirty="0"/>
          </a:p>
        </p:txBody>
      </p:sp>
      <p:sp>
        <p:nvSpPr>
          <p:cNvPr id="8" name="flecha 2"/>
          <p:cNvSpPr/>
          <p:nvPr/>
        </p:nvSpPr>
        <p:spPr>
          <a:xfrm>
            <a:off x="4425696" y="2487168"/>
            <a:ext cx="201168" cy="237744"/>
          </a:xfrm>
          <a:prstGeom prst="rtTriangle">
            <a:avLst/>
          </a:prstGeom>
          <a:solidFill>
            <a:schemeClr val="accent5"/>
          </a:solidFill>
          <a:ln w="12700">
            <a:solidFill>
              <a:schemeClr val="accent5"/>
            </a:solidFill>
            <a:prstDash val="solid"/>
          </a:ln>
        </p:spPr>
      </p:sp>
      <p:sp>
        <p:nvSpPr>
          <p:cNvPr id="9" name="paso 3 fondo"/>
          <p:cNvSpPr/>
          <p:nvPr/>
        </p:nvSpPr>
        <p:spPr>
          <a:xfrm>
            <a:off x="4700016" y="1600200"/>
            <a:ext cx="1783080" cy="2011680"/>
          </a:xfrm>
          <a:prstGeom prst="roundRect">
            <a:avLst>
              <a:gd name="adj" fmla="val 4103"/>
            </a:avLst>
          </a:prstGeom>
          <a:solidFill>
            <a:srgbClr val="FFF6D6"/>
          </a:solidFill>
          <a:ln w="31750">
            <a:solidFill>
              <a:schemeClr val="accent3"/>
            </a:solidFill>
            <a:prstDash val="solid"/>
          </a:ln>
        </p:spPr>
      </p:sp>
      <p:sp>
        <p:nvSpPr>
          <p:cNvPr id="10" name="paso 3"/>
          <p:cNvSpPr txBox="1"/>
          <p:nvPr/>
        </p:nvSpPr>
        <p:spPr>
          <a:xfrm>
            <a:off x="4837176"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Georgia" pitchFamily="34" charset="0"/>
                <a:ea typeface="Georgia" pitchFamily="34" charset="-122"/>
                <a:cs typeface="Georgia" pitchFamily="34" charset="-120"/>
              </a:rPr>
              <a:t>3</a:t>
            </a:r>
            <a:endParaRPr lang="en-US" sz="3000" dirty="0"/>
          </a:p>
          <a:p>
            <a:pPr indent="0" marL="0">
              <a:spcAft>
                <a:spcPts val="400"/>
              </a:spcAft>
              <a:buNone/>
            </a:pPr>
            <a:r>
              <a:rPr lang="en-US" sz="1900" b="1" dirty="0">
                <a:solidFill>
                  <a:schemeClr val="tx2"/>
                </a:solidFill>
              </a:rPr>
              <a:t>Revisión humana</a:t>
            </a:r>
            <a:endParaRPr lang="en-US" sz="3000" dirty="0"/>
          </a:p>
          <a:p>
            <a:pPr indent="0" marL="0">
              <a:spcAft>
                <a:spcPts val="400"/>
              </a:spcAft>
              <a:buNone/>
            </a:pPr>
            <a:r>
              <a:rPr lang="en-US" sz="1800" dirty="0">
                <a:solidFill>
                  <a:schemeClr val="tx1"/>
                </a:solidFill>
              </a:rPr>
              <a:t>Leer, escuchar, decidir</a:t>
            </a:r>
            <a:endParaRPr lang="en-US" sz="3000" dirty="0"/>
          </a:p>
        </p:txBody>
      </p:sp>
      <p:sp>
        <p:nvSpPr>
          <p:cNvPr id="11" name="flecha 3"/>
          <p:cNvSpPr/>
          <p:nvPr/>
        </p:nvSpPr>
        <p:spPr>
          <a:xfrm>
            <a:off x="6547104" y="2487168"/>
            <a:ext cx="201168" cy="237744"/>
          </a:xfrm>
          <a:prstGeom prst="rtTriangle">
            <a:avLst/>
          </a:prstGeom>
          <a:solidFill>
            <a:schemeClr val="accent5"/>
          </a:solidFill>
          <a:ln w="12700">
            <a:solidFill>
              <a:schemeClr val="accent5"/>
            </a:solidFill>
            <a:prstDash val="solid"/>
          </a:ln>
        </p:spPr>
      </p:sp>
      <p:sp>
        <p:nvSpPr>
          <p:cNvPr id="12" name="paso 4 fondo"/>
          <p:cNvSpPr/>
          <p:nvPr/>
        </p:nvSpPr>
        <p:spPr>
          <a:xfrm>
            <a:off x="6821424" y="1600200"/>
            <a:ext cx="1783080" cy="2011680"/>
          </a:xfrm>
          <a:prstGeom prst="roundRect">
            <a:avLst>
              <a:gd name="adj" fmla="val 4103"/>
            </a:avLst>
          </a:prstGeom>
          <a:solidFill>
            <a:schemeClr val="bg2"/>
          </a:solidFill>
          <a:ln w="9525">
            <a:solidFill>
              <a:schemeClr val="bg2"/>
            </a:solidFill>
            <a:prstDash val="solid"/>
          </a:ln>
        </p:spPr>
      </p:sp>
      <p:sp>
        <p:nvSpPr>
          <p:cNvPr id="13" name="paso 4"/>
          <p:cNvSpPr txBox="1"/>
          <p:nvPr/>
        </p:nvSpPr>
        <p:spPr>
          <a:xfrm>
            <a:off x="6958584"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2"/>
                </a:solidFill>
                <a:latin typeface="Georgia" pitchFamily="34" charset="0"/>
                <a:ea typeface="Georgia" pitchFamily="34" charset="-122"/>
                <a:cs typeface="Georgia" pitchFamily="34" charset="-120"/>
              </a:rPr>
              <a:t>4</a:t>
            </a:r>
            <a:endParaRPr lang="en-US" sz="3000" dirty="0"/>
          </a:p>
          <a:p>
            <a:pPr indent="0" marL="0">
              <a:spcAft>
                <a:spcPts val="400"/>
              </a:spcAft>
              <a:buNone/>
            </a:pPr>
            <a:r>
              <a:rPr lang="en-US" sz="1900" b="1" dirty="0">
                <a:solidFill>
                  <a:schemeClr val="tx2"/>
                </a:solidFill>
              </a:rPr>
              <a:t>Resultado</a:t>
            </a:r>
            <a:endParaRPr lang="en-US" sz="3000" dirty="0"/>
          </a:p>
          <a:p>
            <a:pPr indent="0" marL="0">
              <a:spcAft>
                <a:spcPts val="400"/>
              </a:spcAft>
              <a:buNone/>
            </a:pPr>
            <a:r>
              <a:rPr lang="en-US" sz="1800" dirty="0">
                <a:solidFill>
                  <a:schemeClr val="tx1"/>
                </a:solidFill>
              </a:rPr>
              <a:t>Sitio y SCORM</a:t>
            </a:r>
            <a:endParaRPr lang="en-US" sz="3000" dirty="0"/>
          </a:p>
        </p:txBody>
      </p:sp>
      <p:sp>
        <p:nvSpPr>
          <p:cNvPr id="14"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Evidencia</a:t>
            </a:r>
            <a:endParaRPr lang="en-US" sz="3000" dirty="0"/>
          </a:p>
        </p:txBody>
      </p:sp>
      <p:sp>
        <p:nvSpPr>
          <p:cNvPr id="3" name="cifra 1"/>
          <p:cNvSpPr txBox="1"/>
          <p:nvPr/>
        </p:nvSpPr>
        <p:spPr>
          <a:xfrm>
            <a:off x="457200" y="1280160"/>
            <a:ext cx="2615184" cy="219456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latin typeface="Georgia" pitchFamily="34" charset="0"/>
                <a:ea typeface="Georgia" pitchFamily="34" charset="-122"/>
                <a:cs typeface="Georgia" pitchFamily="34" charset="-120"/>
              </a:rPr>
              <a:t>30 / 30</a:t>
            </a:r>
            <a:endParaRPr lang="en-US" sz="4000" dirty="0"/>
          </a:p>
          <a:p>
            <a:pPr indent="0" marL="0">
              <a:spcAft>
                <a:spcPts val="400"/>
              </a:spcAft>
              <a:buNone/>
            </a:pPr>
            <a:r>
              <a:rPr lang="en-US" sz="1900" b="1" dirty="0">
                <a:solidFill>
                  <a:schemeClr val="tx2"/>
                </a:solidFill>
              </a:rPr>
              <a:t>guiones sin errores</a:t>
            </a:r>
            <a:endParaRPr lang="en-US" sz="4000" dirty="0"/>
          </a:p>
          <a:p>
            <a:pPr indent="0" marL="0">
              <a:spcAft>
                <a:spcPts val="400"/>
              </a:spcAft>
              <a:buNone/>
            </a:pPr>
            <a:r>
              <a:rPr lang="en-US" sz="1800" dirty="0">
                <a:solidFill>
                  <a:schemeClr val="accent5"/>
                </a:solidFill>
              </a:rPr>
              <a:t>auditor</a:t>
            </a:r>
            <a:endParaRPr lang="en-US" sz="4000" dirty="0"/>
          </a:p>
        </p:txBody>
      </p:sp>
      <p:sp>
        <p:nvSpPr>
          <p:cNvPr id="4" name="cifra 2"/>
          <p:cNvSpPr txBox="1"/>
          <p:nvPr/>
        </p:nvSpPr>
        <p:spPr>
          <a:xfrm>
            <a:off x="3264408" y="1280160"/>
            <a:ext cx="2615184" cy="2194560"/>
          </a:xfrm>
          <a:prstGeom prst="rect">
            <a:avLst/>
          </a:prstGeom>
          <a:noFill/>
          <a:ln/>
        </p:spPr>
        <p:txBody>
          <a:bodyPr wrap="square" lIns="0" tIns="0" rIns="0" bIns="0" rtlCol="0" anchor="t"/>
          <a:lstStyle/>
          <a:p>
            <a:pPr indent="0" marL="0">
              <a:spcAft>
                <a:spcPts val="400"/>
              </a:spcAft>
              <a:buNone/>
            </a:pPr>
            <a:r>
              <a:rPr lang="en-US" sz="4000" b="1" dirty="0">
                <a:solidFill>
                  <a:schemeClr val="accent2"/>
                </a:solidFill>
                <a:latin typeface="Georgia" pitchFamily="34" charset="0"/>
                <a:ea typeface="Georgia" pitchFamily="34" charset="-122"/>
                <a:cs typeface="Georgia" pitchFamily="34" charset="-120"/>
              </a:rPr>
              <a:t>19 / 19</a:t>
            </a:r>
            <a:endParaRPr lang="en-US" sz="4000" dirty="0"/>
          </a:p>
          <a:p>
            <a:pPr indent="0" marL="0">
              <a:spcAft>
                <a:spcPts val="400"/>
              </a:spcAft>
              <a:buNone/>
            </a:pPr>
            <a:r>
              <a:rPr lang="en-US" sz="1900" b="1" dirty="0">
                <a:solidFill>
                  <a:schemeClr val="tx2"/>
                </a:solidFill>
              </a:rPr>
              <a:t>pasos de la guía</a:t>
            </a:r>
            <a:endParaRPr lang="en-US" sz="4000" dirty="0"/>
          </a:p>
          <a:p>
            <a:pPr indent="0" marL="0">
              <a:spcAft>
                <a:spcPts val="400"/>
              </a:spcAft>
              <a:buNone/>
            </a:pPr>
            <a:r>
              <a:rPr lang="en-US" sz="1800" dirty="0">
                <a:solidFill>
                  <a:schemeClr val="accent5"/>
                </a:solidFill>
              </a:rPr>
              <a:t>ES, EN, teléfono</a:t>
            </a:r>
            <a:endParaRPr lang="en-US" sz="4000" dirty="0"/>
          </a:p>
        </p:txBody>
      </p:sp>
      <p:sp>
        <p:nvSpPr>
          <p:cNvPr id="5" name="cifra 3"/>
          <p:cNvSpPr txBox="1"/>
          <p:nvPr/>
        </p:nvSpPr>
        <p:spPr>
          <a:xfrm>
            <a:off x="6071616" y="1280160"/>
            <a:ext cx="2615184" cy="219456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latin typeface="Georgia" pitchFamily="34" charset="0"/>
                <a:ea typeface="Georgia" pitchFamily="34" charset="-122"/>
                <a:cs typeface="Georgia" pitchFamily="34" charset="-120"/>
              </a:rPr>
              <a:t>3</a:t>
            </a:r>
            <a:endParaRPr lang="en-US" sz="4000" dirty="0"/>
          </a:p>
          <a:p>
            <a:pPr indent="0" marL="0">
              <a:spcAft>
                <a:spcPts val="400"/>
              </a:spcAft>
              <a:buNone/>
            </a:pPr>
            <a:r>
              <a:rPr lang="en-US" sz="1900" b="1" dirty="0">
                <a:solidFill>
                  <a:schemeClr val="tx2"/>
                </a:solidFill>
              </a:rPr>
              <a:t>comprobaciones activas</a:t>
            </a:r>
            <a:endParaRPr lang="en-US" sz="4000" dirty="0"/>
          </a:p>
          <a:p>
            <a:pPr indent="0" marL="0">
              <a:spcAft>
                <a:spcPts val="400"/>
              </a:spcAft>
              <a:buNone/>
            </a:pPr>
            <a:r>
              <a:rPr lang="en-US" sz="1800" dirty="0">
                <a:solidFill>
                  <a:schemeClr val="accent5"/>
                </a:solidFill>
              </a:rPr>
              <a:t>navegador</a:t>
            </a:r>
            <a:endParaRPr lang="en-US" sz="4000" dirty="0"/>
          </a:p>
        </p:txBody>
      </p:sp>
      <p:sp>
        <p:nvSpPr>
          <p:cNvPr id="6" name="pendiente"/>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800" i="1" dirty="0">
                <a:solidFill>
                  <a:schemeClr val="accent4"/>
                </a:solidFill>
              </a:rPr>
              <a:t>Pendiente: prueba con estudiantes.</a:t>
            </a:r>
            <a:endParaRPr lang="en-US" sz="1800" dirty="0"/>
          </a:p>
        </p:txBody>
      </p:sp>
      <p:sp>
        <p:nvSpPr>
          <p:cNvPr id="7"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Límites y uso responsable</a:t>
            </a:r>
            <a:endParaRPr lang="en-US" sz="3000" dirty="0"/>
          </a:p>
        </p:txBody>
      </p:sp>
      <p:sp>
        <p:nvSpPr>
          <p:cNvPr id="3" name="tarjeta 1 fondo"/>
          <p:cNvSpPr/>
          <p:nvPr/>
        </p:nvSpPr>
        <p:spPr>
          <a:xfrm>
            <a:off x="457200" y="1463040"/>
            <a:ext cx="2615184" cy="1920240"/>
          </a:xfrm>
          <a:prstGeom prst="roundRect">
            <a:avLst>
              <a:gd name="adj" fmla="val 3810"/>
            </a:avLst>
          </a:prstGeom>
          <a:solidFill>
            <a:schemeClr val="bg2"/>
          </a:solidFill>
          <a:ln w="12700">
            <a:solidFill>
              <a:schemeClr val="bg2"/>
            </a:solidFill>
            <a:prstDash val="solid"/>
          </a:ln>
        </p:spPr>
      </p:sp>
      <p:sp>
        <p:nvSpPr>
          <p:cNvPr id="4" name="tarjeta 1 acento"/>
          <p:cNvSpPr/>
          <p:nvPr/>
        </p:nvSpPr>
        <p:spPr>
          <a:xfrm>
            <a:off x="457200" y="1463040"/>
            <a:ext cx="2615184" cy="64008"/>
          </a:xfrm>
          <a:prstGeom prst="rect">
            <a:avLst/>
          </a:prstGeom>
          <a:solidFill>
            <a:schemeClr val="accent1"/>
          </a:solidFill>
          <a:ln w="12700">
            <a:solidFill>
              <a:schemeClr val="accent1"/>
            </a:solidFill>
            <a:prstDash val="solid"/>
          </a:ln>
        </p:spPr>
      </p:sp>
      <p:sp>
        <p:nvSpPr>
          <p:cNvPr id="5" name="tarjeta 1"/>
          <p:cNvSpPr txBox="1"/>
          <p:nvPr/>
        </p:nvSpPr>
        <p:spPr>
          <a:xfrm>
            <a:off x="640080"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No reemplaza</a:t>
            </a:r>
            <a:endParaRPr lang="en-US" sz="2000" dirty="0"/>
          </a:p>
          <a:p>
            <a:pPr indent="0" marL="0">
              <a:spcAft>
                <a:spcPts val="600"/>
              </a:spcAft>
              <a:buNone/>
            </a:pPr>
            <a:r>
              <a:rPr lang="en-US" sz="1800" dirty="0">
                <a:solidFill>
                  <a:schemeClr val="tx1"/>
                </a:solidFill>
              </a:rPr>
              <a:t>la clase ni la retroalimentación</a:t>
            </a:r>
            <a:endParaRPr lang="en-US" sz="2000" dirty="0"/>
          </a:p>
        </p:txBody>
      </p:sp>
      <p:sp>
        <p:nvSpPr>
          <p:cNvPr id="6" name="tarjeta 2 fondo"/>
          <p:cNvSpPr/>
          <p:nvPr/>
        </p:nvSpPr>
        <p:spPr>
          <a:xfrm>
            <a:off x="3264408" y="1463040"/>
            <a:ext cx="2615184" cy="1920240"/>
          </a:xfrm>
          <a:prstGeom prst="roundRect">
            <a:avLst>
              <a:gd name="adj" fmla="val 3810"/>
            </a:avLst>
          </a:prstGeom>
          <a:solidFill>
            <a:schemeClr val="bg2"/>
          </a:solidFill>
          <a:ln w="12700">
            <a:solidFill>
              <a:schemeClr val="bg2"/>
            </a:solidFill>
            <a:prstDash val="solid"/>
          </a:ln>
        </p:spPr>
      </p:sp>
      <p:sp>
        <p:nvSpPr>
          <p:cNvPr id="7" name="tarjeta 2 acento"/>
          <p:cNvSpPr/>
          <p:nvPr/>
        </p:nvSpPr>
        <p:spPr>
          <a:xfrm>
            <a:off x="3264408" y="1463040"/>
            <a:ext cx="2615184" cy="64008"/>
          </a:xfrm>
          <a:prstGeom prst="rect">
            <a:avLst/>
          </a:prstGeom>
          <a:solidFill>
            <a:schemeClr val="accent2"/>
          </a:solidFill>
          <a:ln w="12700">
            <a:solidFill>
              <a:schemeClr val="accent2"/>
            </a:solidFill>
            <a:prstDash val="solid"/>
          </a:ln>
        </p:spPr>
      </p:sp>
      <p:sp>
        <p:nvSpPr>
          <p:cNvPr id="8" name="tarjeta 2"/>
          <p:cNvSpPr txBox="1"/>
          <p:nvPr/>
        </p:nvSpPr>
        <p:spPr>
          <a:xfrm>
            <a:off x="3447288"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Datos</a:t>
            </a:r>
            <a:endParaRPr lang="en-US" sz="2000" dirty="0"/>
          </a:p>
          <a:p>
            <a:pPr indent="0" marL="0">
              <a:spcAft>
                <a:spcPts val="600"/>
              </a:spcAft>
              <a:buNone/>
            </a:pPr>
            <a:r>
              <a:rPr lang="en-US" sz="1800" dirty="0">
                <a:solidFill>
                  <a:schemeClr val="tx1"/>
                </a:solidFill>
              </a:rPr>
              <a:t>sin datos personales</a:t>
            </a:r>
            <a:endParaRPr lang="en-US" sz="2000" dirty="0"/>
          </a:p>
        </p:txBody>
      </p:sp>
      <p:sp>
        <p:nvSpPr>
          <p:cNvPr id="9" name="tarjeta 3 fondo"/>
          <p:cNvSpPr/>
          <p:nvPr/>
        </p:nvSpPr>
        <p:spPr>
          <a:xfrm>
            <a:off x="6071616" y="1463040"/>
            <a:ext cx="2615184" cy="1920240"/>
          </a:xfrm>
          <a:prstGeom prst="roundRect">
            <a:avLst>
              <a:gd name="adj" fmla="val 3810"/>
            </a:avLst>
          </a:prstGeom>
          <a:solidFill>
            <a:schemeClr val="bg2"/>
          </a:solidFill>
          <a:ln w="12700">
            <a:solidFill>
              <a:schemeClr val="bg2"/>
            </a:solidFill>
            <a:prstDash val="solid"/>
          </a:ln>
        </p:spPr>
      </p:sp>
      <p:sp>
        <p:nvSpPr>
          <p:cNvPr id="10" name="tarjeta 3 acento"/>
          <p:cNvSpPr/>
          <p:nvPr/>
        </p:nvSpPr>
        <p:spPr>
          <a:xfrm>
            <a:off x="6071616" y="1463040"/>
            <a:ext cx="2615184" cy="64008"/>
          </a:xfrm>
          <a:prstGeom prst="rect">
            <a:avLst/>
          </a:prstGeom>
          <a:solidFill>
            <a:schemeClr val="accent3"/>
          </a:solidFill>
          <a:ln w="12700">
            <a:solidFill>
              <a:schemeClr val="accent3"/>
            </a:solidFill>
            <a:prstDash val="solid"/>
          </a:ln>
        </p:spPr>
      </p:sp>
      <p:sp>
        <p:nvSpPr>
          <p:cNvPr id="11" name="tarjeta 3"/>
          <p:cNvSpPr txBox="1"/>
          <p:nvPr/>
        </p:nvSpPr>
        <p:spPr>
          <a:xfrm>
            <a:off x="6254496"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Siguiente paso</a:t>
            </a:r>
            <a:endParaRPr lang="en-US" sz="2000" dirty="0"/>
          </a:p>
          <a:p>
            <a:pPr indent="0" marL="0">
              <a:spcAft>
                <a:spcPts val="600"/>
              </a:spcAft>
              <a:buNone/>
            </a:pPr>
            <a:r>
              <a:rPr lang="en-US" sz="1800" dirty="0">
                <a:solidFill>
                  <a:schemeClr val="tx1"/>
                </a:solidFill>
              </a:rPr>
              <a:t>Moodle UTE y tasa de finalización</a:t>
            </a:r>
            <a:endParaRPr lang="en-US" sz="2000" dirty="0"/>
          </a:p>
        </p:txBody>
      </p:sp>
      <p:sp>
        <p:nvSpPr>
          <p:cNvPr id="12"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1197864" y="146304"/>
            <a:ext cx="6766560" cy="438912"/>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Demostración · Entrada</a:t>
            </a:r>
            <a:endParaRPr lang="en-US" sz="2400" dirty="0"/>
          </a:p>
        </p:txBody>
      </p:sp>
      <p:pic>
        <p:nvPicPr>
          <p:cNvPr id="3" name="captura" descr="Inicio: idioma, video y guía de voz que señala lo que nombra.">    </p:cNvPr>
          <p:cNvPicPr>
            <a:picLocks noChangeAspect="1"/>
          </p:cNvPicPr>
          <p:nvPr/>
        </p:nvPicPr>
        <p:blipFill>
          <a:blip r:embed="rId1"/>
          <a:stretch>
            <a:fillRect/>
          </a:stretch>
        </p:blipFill>
        <p:spPr>
          <a:xfrm>
            <a:off x="1197864" y="896112"/>
            <a:ext cx="6748272" cy="3794760"/>
          </a:xfrm>
          <a:prstGeom prst="rect">
            <a:avLst/>
          </a:prstGeom>
        </p:spPr>
      </p:pic>
      <p:sp>
        <p:nvSpPr>
          <p:cNvPr id="4" name="marco"/>
          <p:cNvSpPr/>
          <p:nvPr/>
        </p:nvSpPr>
        <p:spPr>
          <a:xfrm>
            <a:off x="1197864" y="896112"/>
            <a:ext cx="6748272" cy="3794760"/>
          </a:xfrm>
          <a:prstGeom prst="rect">
            <a:avLst/>
          </a:prstGeom>
          <a:ln w="9525">
            <a:solidFill>
              <a:srgbClr val="D5D3E6"/>
            </a:solidFill>
            <a:prstDash val="solid"/>
          </a:ln>
        </p:spPr>
      </p:sp>
      <p:sp>
        <p:nvSpPr>
          <p:cNvPr id="5" name="rotulo"/>
          <p:cNvSpPr txBox="1"/>
          <p:nvPr/>
        </p:nvSpPr>
        <p:spPr>
          <a:xfrm>
            <a:off x="1197864" y="640080"/>
            <a:ext cx="6766560" cy="201168"/>
          </a:xfrm>
          <a:prstGeom prst="rect">
            <a:avLst/>
          </a:prstGeom>
          <a:noFill/>
          <a:ln/>
        </p:spPr>
        <p:txBody>
          <a:bodyPr wrap="square" lIns="0" tIns="0" rIns="0" bIns="0" rtlCol="0" anchor="ctr"/>
          <a:lstStyle/>
          <a:p>
            <a:pPr indent="0" marL="0">
              <a:buNone/>
            </a:pPr>
            <a:r>
              <a:rPr lang="en-US" sz="1200" dirty="0">
                <a:solidFill>
                  <a:schemeClr val="accent5"/>
                </a:solidFill>
              </a:rPr>
              <a:t>Inicio: idioma, video y guía de voz que señala lo que nombra.</a:t>
            </a:r>
            <a:endParaRPr lang="en-US" sz="1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1197864" y="146304"/>
            <a:ext cx="6766560" cy="438912"/>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Demostración · Resultado</a:t>
            </a:r>
            <a:endParaRPr lang="en-US" sz="2400" dirty="0"/>
          </a:p>
        </p:txBody>
      </p:sp>
      <p:pic>
        <p:nvPicPr>
          <p:cNvPr id="3" name="captura" descr="Lección narrada: diapositiva, subtítulo y transcripción sincronizada.">    </p:cNvPr>
          <p:cNvPicPr>
            <a:picLocks noChangeAspect="1"/>
          </p:cNvPicPr>
          <p:nvPr/>
        </p:nvPicPr>
        <p:blipFill>
          <a:blip r:embed="rId1"/>
          <a:stretch>
            <a:fillRect/>
          </a:stretch>
        </p:blipFill>
        <p:spPr>
          <a:xfrm>
            <a:off x="1197864" y="896112"/>
            <a:ext cx="6748272" cy="3794760"/>
          </a:xfrm>
          <a:prstGeom prst="rect">
            <a:avLst/>
          </a:prstGeom>
        </p:spPr>
      </p:pic>
      <p:sp>
        <p:nvSpPr>
          <p:cNvPr id="4" name="marco"/>
          <p:cNvSpPr/>
          <p:nvPr/>
        </p:nvSpPr>
        <p:spPr>
          <a:xfrm>
            <a:off x="1197864" y="896112"/>
            <a:ext cx="6748272" cy="3794760"/>
          </a:xfrm>
          <a:prstGeom prst="rect">
            <a:avLst/>
          </a:prstGeom>
          <a:ln w="9525">
            <a:solidFill>
              <a:srgbClr val="D5D3E6"/>
            </a:solidFill>
            <a:prstDash val="solid"/>
          </a:ln>
        </p:spPr>
      </p:sp>
      <p:sp>
        <p:nvSpPr>
          <p:cNvPr id="5" name="rotulo"/>
          <p:cNvSpPr txBox="1"/>
          <p:nvPr/>
        </p:nvSpPr>
        <p:spPr>
          <a:xfrm>
            <a:off x="1197864" y="640080"/>
            <a:ext cx="6766560" cy="201168"/>
          </a:xfrm>
          <a:prstGeom prst="rect">
            <a:avLst/>
          </a:prstGeom>
          <a:noFill/>
          <a:ln/>
        </p:spPr>
        <p:txBody>
          <a:bodyPr wrap="square" lIns="0" tIns="0" rIns="0" bIns="0" rtlCol="0" anchor="ctr"/>
          <a:lstStyle/>
          <a:p>
            <a:pPr indent="0" marL="0">
              <a:buNone/>
            </a:pPr>
            <a:r>
              <a:rPr lang="en-US" sz="1200" dirty="0">
                <a:solidFill>
                  <a:schemeClr val="accent5"/>
                </a:solidFill>
              </a:rPr>
              <a:t>Lección narrada: diapositiva, subtítulo y transcripción sincronizada.</a:t>
            </a:r>
            <a:endParaRPr lang="en-US" sz="1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1197864" y="146304"/>
            <a:ext cx="6766560" cy="438912"/>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Demostración · Revisión</a:t>
            </a:r>
            <a:endParaRPr lang="en-US" sz="2400" dirty="0"/>
          </a:p>
        </p:txBody>
      </p:sp>
      <p:pic>
        <p:nvPicPr>
          <p:cNvPr id="3" name="captura" descr="Versión en inglés con comprobación formativa antes del SCORM.">    </p:cNvPr>
          <p:cNvPicPr>
            <a:picLocks noChangeAspect="1"/>
          </p:cNvPicPr>
          <p:nvPr/>
        </p:nvPicPr>
        <p:blipFill>
          <a:blip r:embed="rId1"/>
          <a:stretch>
            <a:fillRect/>
          </a:stretch>
        </p:blipFill>
        <p:spPr>
          <a:xfrm>
            <a:off x="1197864" y="896112"/>
            <a:ext cx="6748272" cy="3794760"/>
          </a:xfrm>
          <a:prstGeom prst="rect">
            <a:avLst/>
          </a:prstGeom>
        </p:spPr>
      </p:pic>
      <p:sp>
        <p:nvSpPr>
          <p:cNvPr id="4" name="marco"/>
          <p:cNvSpPr/>
          <p:nvPr/>
        </p:nvSpPr>
        <p:spPr>
          <a:xfrm>
            <a:off x="1197864" y="896112"/>
            <a:ext cx="6748272" cy="3794760"/>
          </a:xfrm>
          <a:prstGeom prst="rect">
            <a:avLst/>
          </a:prstGeom>
          <a:ln w="9525">
            <a:solidFill>
              <a:srgbClr val="D5D3E6"/>
            </a:solidFill>
            <a:prstDash val="solid"/>
          </a:ln>
        </p:spPr>
      </p:sp>
      <p:sp>
        <p:nvSpPr>
          <p:cNvPr id="5" name="rotulo"/>
          <p:cNvSpPr txBox="1"/>
          <p:nvPr/>
        </p:nvSpPr>
        <p:spPr>
          <a:xfrm>
            <a:off x="1197864" y="640080"/>
            <a:ext cx="6766560" cy="201168"/>
          </a:xfrm>
          <a:prstGeom prst="rect">
            <a:avLst/>
          </a:prstGeom>
          <a:noFill/>
          <a:ln/>
        </p:spPr>
        <p:txBody>
          <a:bodyPr wrap="square" lIns="0" tIns="0" rIns="0" bIns="0" rtlCol="0" anchor="ctr"/>
          <a:lstStyle/>
          <a:p>
            <a:pPr indent="0" marL="0">
              <a:buNone/>
            </a:pPr>
            <a:r>
              <a:rPr lang="en-US" sz="1200" dirty="0">
                <a:solidFill>
                  <a:schemeClr val="accent5"/>
                </a:solidFill>
              </a:rPr>
              <a:t>Versión en inglés con comprobación formativa antes del SCORM.</a:t>
            </a:r>
            <a:endParaRPr lang="en-US" sz="1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141732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Georgia" pitchFamily="34" charset="0"/>
                <a:ea typeface="Georgia" pitchFamily="34" charset="-122"/>
                <a:cs typeface="Georgia" pitchFamily="34" charset="-120"/>
              </a:rPr>
              <a:t>Una clase que se escucha</a:t>
            </a:r>
            <a:endParaRPr lang="en-US" sz="4000" dirty="0"/>
          </a:p>
        </p:txBody>
      </p:sp>
      <p:sp>
        <p:nvSpPr>
          <p:cNvPr id="3" name="frase"/>
          <p:cNvSpPr txBox="1"/>
          <p:nvPr/>
        </p:nvSpPr>
        <p:spPr>
          <a:xfrm>
            <a:off x="457200" y="2286000"/>
            <a:ext cx="8229600" cy="457200"/>
          </a:xfrm>
          <a:prstGeom prst="rect">
            <a:avLst/>
          </a:prstGeom>
          <a:noFill/>
          <a:ln/>
        </p:spPr>
        <p:txBody>
          <a:bodyPr wrap="square" lIns="0" tIns="0" rIns="0" bIns="0" rtlCol="0" anchor="ctr"/>
          <a:lstStyle/>
          <a:p>
            <a:pPr indent="0" marL="0">
              <a:buNone/>
            </a:pPr>
            <a:r>
              <a:rPr lang="en-US" sz="2200" dirty="0">
                <a:solidFill>
                  <a:srgbClr val="E6E3F7"/>
                </a:solidFill>
              </a:rPr>
              <a:t>De diapositivas sin voz a una lección bilingüe.</a:t>
            </a:r>
            <a:endParaRPr lang="en-US" sz="2200" dirty="0"/>
          </a:p>
        </p:txBody>
      </p:sp>
      <p:sp>
        <p:nvSpPr>
          <p:cNvPr id="4" name="linea dorada"/>
          <p:cNvSpPr/>
          <p:nvPr/>
        </p:nvSpPr>
        <p:spPr>
          <a:xfrm>
            <a:off x="457200" y="2907792"/>
            <a:ext cx="1097280" cy="54864"/>
          </a:xfrm>
          <a:prstGeom prst="rect">
            <a:avLst/>
          </a:prstGeom>
          <a:solidFill>
            <a:schemeClr val="accent3"/>
          </a:solidFill>
          <a:ln w="12700">
            <a:solidFill>
              <a:schemeClr val="accent3"/>
            </a:solidFill>
            <a:prstDash val="solid"/>
          </a:ln>
        </p:spPr>
      </p:sp>
      <p:sp>
        <p:nvSpPr>
          <p:cNvPr id="5" name="enlace">
            <a:hlinkClick r:id="rId1" tooltip=""/>
          </p:cNvPr>
          <p:cNvSpPr txBox="1"/>
          <p:nvPr/>
        </p:nvSpPr>
        <p:spPr>
          <a:xfrm>
            <a:off x="457200" y="3108960"/>
            <a:ext cx="8229600" cy="365760"/>
          </a:xfrm>
          <a:prstGeom prst="rect">
            <a:avLst/>
          </a:prstGeom>
          <a:noFill/>
          <a:ln/>
        </p:spPr>
        <p:txBody>
          <a:bodyPr wrap="square" lIns="0" tIns="0" rIns="0" bIns="0" rtlCol="0" anchor="ctr"/>
          <a:lstStyle/>
          <a:p>
            <a:pPr indent="0" marL="0">
              <a:buNone/>
            </a:pPr>
            <a:r>
              <a:rPr lang="en-US" sz="1800" u="sng" dirty="0">
                <a:solidFill>
                  <a:schemeClr val="accent3"/>
                </a:solidFill>
                <a:hlinkClick r:id="rId1" invalidUrl="" action="" tgtFrame="" tooltip="" history="1" highlightClick="0" endSnd="0">
                  <a:extLst>
                    <a:ext uri="{A12FA001-AC4F-418D-AE19-62706E023703}">
                      <ahyp:hlinkClr xmlns:ahyp="http://schemas.microsoft.com/office/drawing/2018/hyperlinkcolor" val="tx"/>
                    </a:ext>
                  </a:extLst>
                </a:hlinkClick>
              </a:rPr>
              <a:t>claude.ai/artifact/HtAaBUVm6Jyhrco22LPEc9</a:t>
            </a:r>
            <a:endParaRPr lang="en-US" sz="1800" dirty="0"/>
          </a:p>
        </p:txBody>
      </p:sp>
      <p:sp>
        <p:nvSpPr>
          <p:cNvPr id="6" name="autor"/>
          <p:cNvSpPr txBox="1"/>
          <p:nvPr/>
        </p:nvSpPr>
        <p:spPr>
          <a:xfrm>
            <a:off x="457200" y="3566160"/>
            <a:ext cx="8229600" cy="365760"/>
          </a:xfrm>
          <a:prstGeom prst="rect">
            <a:avLst/>
          </a:prstGeom>
          <a:noFill/>
          <a:ln/>
        </p:spPr>
        <p:txBody>
          <a:bodyPr wrap="square" lIns="0" tIns="0" rIns="0" bIns="0" rtlCol="0" anchor="ctr"/>
          <a:lstStyle/>
          <a:p>
            <a:pPr indent="0" marL="0">
              <a:buNone/>
            </a:pPr>
            <a:r>
              <a:rPr lang="en-US" sz="1800" b="1" dirty="0">
                <a:solidFill>
                  <a:srgbClr val="FFFFFF"/>
                </a:solidFill>
              </a:rPr>
              <a:t>Juan Pablo Arrobo · UTPL</a:t>
            </a:r>
            <a:endParaRPr lang="en-US" sz="1800" dirty="0"/>
          </a:p>
        </p:txBody>
      </p:sp>
      <p:sp>
        <p:nvSpPr>
          <p:cNvPr id="7"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rgbClr val="C9CCE0"/>
                </a:solidFill>
              </a:rPr>
              <a:t>10 / 10</a:t>
            </a:r>
            <a:endParaRPr lang="en-US" sz="1000" dirty="0"/>
          </a:p>
        </p:txBody>
      </p:sp>
    </p:spTree>
  </p:cSld>
  <p:clrMapOvr>
    <a:masterClrMapping/>
  </p:clrMapOvr>
</p:sld>
</file>

<file path=ppt/theme/theme1.xml><?xml version="1.0" encoding="utf-8"?>
<a:theme xmlns:a="http://schemas.openxmlformats.org/drawingml/2006/main" name="Vibe Coding CEDIA">
  <a:themeElements>
    <a:clrScheme name="Vibe Coding CEDIA">
      <a:dk1>
        <a:srgbClr val="1F2430"/>
      </a:dk1>
      <a:lt1>
        <a:srgbClr val="FFFFFF"/>
      </a:lt1>
      <a:dk2>
        <a:srgbClr val="0B1020"/>
      </a:dk2>
      <a:lt2>
        <a:srgbClr val="F4F3FB"/>
      </a:lt2>
      <a:accent1>
        <a:srgbClr val="5B4BDB"/>
      </a:accent1>
      <a:accent2>
        <a:srgbClr val="0D9488"/>
      </a:accent2>
      <a:accent3>
        <a:srgbClr val="FFC629"/>
      </a:accent3>
      <a:accent4>
        <a:srgbClr val="B4502F"/>
      </a:accent4>
      <a:accent5>
        <a:srgbClr val="5A6170"/>
      </a:accent5>
      <a:accent6>
        <a:srgbClr val="E6E3F7"/>
      </a:accent6>
      <a:hlink>
        <a:srgbClr val="5B4BDB"/>
      </a:hlink>
      <a:folHlink>
        <a:srgbClr val="0D9488"/>
      </a:folHlink>
    </a:clrScheme>
    <a:fontScheme name="Vibe Coding CEDI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Sitio narrado del curso</dc:title>
  <dc:subject>PptxGenJS Presentation</dc:subject>
  <dc:creator>Juan Pablo Arrobo</dc:creator>
  <cp:lastModifiedBy>Juan Pablo Arrobo</cp:lastModifiedBy>
  <cp:revision>1</cp:revision>
  <dcterms:created xsi:type="dcterms:W3CDTF">2026-10-10T22:19:52Z</dcterms:created>
  <dcterms:modified xsi:type="dcterms:W3CDTF">2026-10-10T22:19:52Z</dcterms:modified>
</cp:coreProperties>
</file>